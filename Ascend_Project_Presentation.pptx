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f347128-b33b-5876-18f2-197e6d5d7e01}">
          <p14:sldIdLst>
            <p14:sldId id="256"/>
            <p14:sldId id="257"/>
            <p14:sldId id="258"/>
          </p14:sldIdLst>
        </p14:section>
        <p14:section name="Product" id="{b475f6e8-b350-4811-ffb5-c00b708826a0}">
          <p14:sldIdLst>
            <p14:sldId id="259"/>
            <p14:sldId id="260"/>
            <p14:sldId id="261"/>
            <p14:sldId id="262"/>
          </p14:sldIdLst>
        </p14:section>
        <p14:section name="Wrap-up" id="{a43874cd-03d2-4ae7-3d59-b4c6da20a11a}">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and the project name. Ascend is a social media platform built around talent and recognition instead of likes and followers. Built using only HTML, CSS and JavaScript as per our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on normal social media, popularity decides what people see. Talented people with few followers get buried. Ascend flips this by letting the community endorse talent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simple steps: post a talent, get endorsed by other users, and climb through the tiers. Keep this short and move on to the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main features while showing the live demo. Mention the tick animation after sign up and login, the search bar, the grid, the Reels feed and the profile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tier thresholds: Bronze to start, Silver at 3 endorsements, Gold at 10, Platinum at 25 and Legend at 50. This logic is written in JavaScript in the getTierFromEndorsements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order you will follow during the live demo. After sign up the user sees a tick and returns to the login form, as our sir asked. After login another tick appears and the app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syllabus covers HTML, CSS and JavaScript, so the whole project uses only these three. Data is saved in the browser using localStorage because we have not connected a backend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scope: this is a working front-end prototype. The next phase is a real database and backend, plus social features like comments and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thanking the reviewers, then start the live demo following the user journey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bg>
      <p:bgPr>
        <a:solidFill>
          <a:schemeClr val="tx1"/>
        </a:solidFill>
      </p:bgPr>
    </p:bg>
    <p:spTree>
      <p:nvGrpSpPr>
        <p:cNvPr id="1" name=""/>
        <p:cNvGrpSpPr/>
        <p:nvPr/>
      </p:nvGrpSpPr>
      <p:grpSpPr>
        <a:xfrm>
          <a:off x="0" y="0"/>
          <a:ext cx="0" cy="0"/>
          <a:chOff x="0" y="0"/>
          <a:chExt cx="0" cy="0"/>
        </a:xfrm>
      </p:grpSpPr>
      <p:pic>
        <p:nvPicPr>
          <p:cNvPr id="2" name="Image 0" descr="/home/claude/logo_small.png">    </p:cNvPr>
          <p:cNvPicPr>
            <a:picLocks noChangeAspect="1"/>
          </p:cNvPicPr>
          <p:nvPr/>
        </p:nvPicPr>
        <p:blipFill>
          <a:blip r:embed="rId1"/>
          <a:stretch>
            <a:fillRect/>
          </a:stretch>
        </p:blipFill>
        <p:spPr>
          <a:xfrm>
            <a:off x="4000500" y="0"/>
            <a:ext cx="5143500" cy="5143500"/>
          </a:xfrm>
          <a:prstGeom prst="rect">
            <a:avLst/>
          </a:prstGeom>
        </p:spPr>
      </p:pic>
      <p:sp>
        <p:nvSpPr>
          <p:cNvPr id="3" name="Text 0"/>
          <p:cNvSpPr/>
          <p:nvPr>
            <p:ph idx="101" type="title" hasCustomPrompt="1"/>
          </p:nvPr>
        </p:nvSpPr>
        <p:spPr>
          <a:xfrm>
            <a:off x="548640" y="1097280"/>
            <a:ext cx="3291840" cy="1188720"/>
          </a:xfrm>
          <a:prstGeom prst="rect">
            <a:avLst/>
          </a:prstGeom>
          <a:noFill/>
          <a:ln/>
        </p:spPr>
        <p:txBody>
          <a:bodyPr wrap="square" rtlCol="0"/>
          <a:lstStyle>
            <a:lvl1pPr algn="l" indent="0" marL="0">
              <a:buNone/>
              <a:defRPr lang="en-US" sz="5400" b="1" dirty="0">
                <a:solidFill>
                  <a:schemeClr val="accent1"/>
                </a:solidFill>
              </a:defRPr>
            </a:lvl1pPr>
          </a:lstStyle>
          <a:p>
            <a:pPr algn="l" indent="0" marL="0">
              <a:buNone/>
            </a:pPr>
            <a:endParaRPr lang="en-US" sz="5400" dirty="0"/>
          </a:p>
        </p:txBody>
      </p:sp>
      <p:sp>
        <p:nvSpPr>
          <p:cNvPr id="4" name="Text 0"/>
          <p:cNvSpPr/>
          <p:nvPr>
            <p:ph idx="102" type="body" hasCustomPrompt="1"/>
          </p:nvPr>
        </p:nvSpPr>
        <p:spPr>
          <a:xfrm>
            <a:off x="548640" y="2377440"/>
            <a:ext cx="3291840" cy="457200"/>
          </a:xfrm>
          <a:prstGeom prst="rect">
            <a:avLst/>
          </a:prstGeom>
          <a:noFill/>
          <a:ln/>
        </p:spPr>
        <p:txBody>
          <a:bodyPr wrap="square" rtlCol="0"/>
          <a:lstStyle>
            <a:lvl1pPr indent="0" marL="0">
              <a:buNone/>
              <a:defRPr lang="en-US" sz="2200" dirty="0">
                <a:solidFill>
                  <a:schemeClr val="bg1"/>
                </a:solidFill>
              </a:defRPr>
            </a:lvl1pPr>
          </a:lstStyle>
          <a:p>
            <a:pPr indent="0" marL="0">
              <a:buNone/>
            </a:pPr>
            <a:endParaRPr lang="en-US" sz="2200" dirty="0"/>
          </a:p>
        </p:txBody>
      </p:sp>
      <p:sp>
        <p:nvSpPr>
          <p:cNvPr id="5" name="Text 0"/>
          <p:cNvSpPr/>
          <p:nvPr>
            <p:ph idx="103" type="body" hasCustomPrompt="1"/>
          </p:nvPr>
        </p:nvSpPr>
        <p:spPr>
          <a:xfrm>
            <a:off x="548640" y="3017520"/>
            <a:ext cx="3200400" cy="137160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bg>
      <p:bgPr>
        <a:solidFill>
          <a:schemeClr val="tx1"/>
        </a:solidFill>
      </p:bgPr>
    </p:bg>
    <p:spTree>
      <p:nvGrpSpPr>
        <p:cNvPr id="1" name=""/>
        <p:cNvGrpSpPr/>
        <p:nvPr/>
      </p:nvGrpSpPr>
      <p:grpSpPr>
        <a:xfrm>
          <a:off x="0" y="0"/>
          <a:ext cx="0" cy="0"/>
          <a:chOff x="0" y="0"/>
          <a:chExt cx="0" cy="0"/>
        </a:xfrm>
      </p:grpSpPr>
      <p:pic>
        <p:nvPicPr>
          <p:cNvPr id="2" name="Image 0" descr="/home/claude/logo_small.png">    </p:cNvPr>
          <p:cNvPicPr>
            <a:picLocks noChangeAspect="1"/>
          </p:cNvPicPr>
          <p:nvPr/>
        </p:nvPicPr>
        <p:blipFill>
          <a:blip r:embed="rId1"/>
          <a:stretch>
            <a:fillRect/>
          </a:stretch>
        </p:blipFill>
        <p:spPr>
          <a:xfrm>
            <a:off x="8183880" y="365760"/>
            <a:ext cx="502920" cy="502920"/>
          </a:xfrm>
          <a:prstGeom prst="rect">
            <a:avLst/>
          </a:prstGeom>
        </p:spPr>
      </p:pic>
      <p:sp>
        <p:nvSpPr>
          <p:cNvPr id="3" name="Text 0"/>
          <p:cNvSpPr/>
          <p:nvPr>
            <p:ph idx="101" type="title" hasCustomPrompt="1"/>
          </p:nvPr>
        </p:nvSpPr>
        <p:spPr>
          <a:xfrm>
            <a:off x="548640" y="320040"/>
            <a:ext cx="740664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txBox="1"/>
          <p:nvPr/>
        </p:nvSpPr>
        <p:spPr>
          <a:xfrm>
            <a:off x="548640" y="4709160"/>
            <a:ext cx="4572000" cy="274320"/>
          </a:xfrm>
          <a:prstGeom prst="rect">
            <a:avLst/>
          </a:prstGeom>
          <a:noFill/>
          <a:ln/>
        </p:spPr>
        <p:txBody>
          <a:bodyPr wrap="square" lIns="0" tIns="0" rIns="0" bIns="0" rtlCol="0" anchor="ctr"/>
          <a:lstStyle/>
          <a:p>
            <a:pPr indent="0" marL="0">
              <a:buNone/>
            </a:pPr>
            <a:r>
              <a:rPr lang="en-US" sz="1000" dirty="0">
                <a:solidFill>
                  <a:schemeClr val="bg2"/>
                </a:solidFill>
              </a:rPr>
              <a:t>Ascend  ·  Rise through your craft</a:t>
            </a:r>
            <a:endParaRPr lang="en-US" sz="10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548640" y="1097280"/>
            <a:ext cx="3291840" cy="1188720"/>
          </a:xfrm>
          <a:prstGeom prst="rect">
            <a:avLst/>
          </a:prstGeom>
          <a:noFill/>
          <a:ln/>
        </p:spPr>
        <p:txBody>
          <a:bodyPr wrap="square" lIns="0" tIns="0" rIns="0" bIns="0" rtlCol="0" anchor="b"/>
          <a:lstStyle/>
          <a:p>
            <a:pPr algn="l" indent="0" marL="0">
              <a:buNone/>
            </a:pPr>
            <a:r>
              <a:rPr lang="en-US" sz="5400" b="1" dirty="0">
                <a:solidFill>
                  <a:schemeClr val="accent1"/>
                </a:solidFill>
              </a:rPr>
              <a:t>Ascend</a:t>
            </a:r>
            <a:endParaRPr lang="en-US" sz="5400" dirty="0"/>
          </a:p>
        </p:txBody>
      </p:sp>
      <p:sp>
        <p:nvSpPr>
          <p:cNvPr id="3" name="Text 0"/>
          <p:cNvSpPr/>
          <p:nvPr>
            <p:ph idx="102" type="body" hasCustomPrompt="1"/>
          </p:nvPr>
        </p:nvSpPr>
        <p:spPr>
          <a:xfrm>
            <a:off x="548640" y="2377440"/>
            <a:ext cx="3291840" cy="457200"/>
          </a:xfrm>
          <a:prstGeom prst="rect">
            <a:avLst/>
          </a:prstGeom>
          <a:noFill/>
          <a:ln/>
        </p:spPr>
        <p:txBody>
          <a:bodyPr wrap="square" lIns="0" tIns="0" rIns="0" bIns="0" rtlCol="0" anchor="t"/>
          <a:lstStyle/>
          <a:p>
            <a:pPr indent="0" marL="0">
              <a:buNone/>
            </a:pPr>
            <a:r>
              <a:rPr lang="en-US" sz="2200" dirty="0">
                <a:solidFill>
                  <a:schemeClr val="bg1"/>
                </a:solidFill>
              </a:rPr>
              <a:t>Rise through your craft</a:t>
            </a:r>
            <a:endParaRPr lang="en-US" sz="2200" dirty="0"/>
          </a:p>
        </p:txBody>
      </p:sp>
      <p:sp>
        <p:nvSpPr>
          <p:cNvPr id="4" name="Text 0"/>
          <p:cNvSpPr/>
          <p:nvPr>
            <p:ph idx="103" type="body" hasCustomPrompt="1"/>
          </p:nvPr>
        </p:nvSpPr>
        <p:spPr>
          <a:xfrm>
            <a:off x="548640" y="3017520"/>
            <a:ext cx="3200400" cy="1371600"/>
          </a:xfrm>
          <a:prstGeom prst="rect">
            <a:avLst/>
          </a:prstGeom>
          <a:noFill/>
          <a:ln/>
        </p:spPr>
        <p:txBody>
          <a:bodyPr wrap="square" lIns="0" tIns="0" rIns="0" bIns="0" rtlCol="0" anchor="t"/>
          <a:lstStyle/>
          <a:p>
            <a:pPr indent="0" marL="0">
              <a:buNone/>
            </a:pPr>
            <a:r>
              <a:rPr lang="en-US" sz="1400" dirty="0">
                <a:solidFill>
                  <a:schemeClr val="bg2"/>
                </a:solidFill>
              </a:rPr>
              <a:t>A talent discovery social media platform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7406640" cy="731520"/>
          </a:xfrm>
          <a:prstGeom prst="rect">
            <a:avLst/>
          </a:prstGeom>
          <a:noFill/>
          <a:ln/>
        </p:spPr>
        <p:txBody>
          <a:bodyPr wrap="square" lIns="0" tIns="0" rIns="0" bIns="0" rtlCol="0" anchor="ctr"/>
          <a:lstStyle/>
          <a:p>
            <a:pPr algn="l" indent="0" marL="0">
              <a:buNone/>
            </a:pPr>
            <a:r>
              <a:rPr lang="en-US" sz="3600" b="1" dirty="0">
                <a:solidFill>
                  <a:schemeClr val="bg1"/>
                </a:solidFill>
              </a:rPr>
              <a:t>Talent gets buried</a:t>
            </a:r>
            <a:endParaRPr lang="en-US" sz="3600" dirty="0"/>
          </a:p>
        </p:txBody>
      </p:sp>
      <p:sp>
        <p:nvSpPr>
          <p:cNvPr id="3" name="Typical platforms card"/>
          <p:cNvSpPr/>
          <p:nvPr/>
        </p:nvSpPr>
        <p:spPr>
          <a:xfrm>
            <a:off x="548640" y="1371600"/>
            <a:ext cx="3886200" cy="2606040"/>
          </a:xfrm>
          <a:prstGeom prst="roundRect">
            <a:avLst>
              <a:gd name="adj" fmla="val 4211"/>
            </a:avLst>
          </a:prstGeom>
          <a:solidFill>
            <a:schemeClr val="tx2"/>
          </a:solidFill>
          <a:ln/>
          <a:effectLst>
            <a:outerShdw sx="100000" sy="100000" kx="0" ky="0" algn="bl" rotWithShape="0" blurRad="76200" dist="25400" dir="5400000">
              <a:srgbClr val="000000">
                <a:alpha val="35000"/>
              </a:srgbClr>
            </a:outerShdw>
          </a:effectLst>
        </p:spPr>
      </p:sp>
      <p:sp>
        <p:nvSpPr>
          <p:cNvPr id="4" name="Likes circle"/>
          <p:cNvSpPr/>
          <p:nvPr/>
        </p:nvSpPr>
        <p:spPr>
          <a:xfrm>
            <a:off x="822960" y="1645920"/>
            <a:ext cx="548640" cy="548640"/>
          </a:xfrm>
          <a:prstGeom prst="ellipse">
            <a:avLst/>
          </a:prstGeom>
          <a:solidFill>
            <a:schemeClr val="accent5"/>
          </a:solidFill>
          <a:ln/>
        </p:spPr>
      </p:sp>
      <p:pic>
        <p:nvPicPr>
          <p:cNvPr id="5" name="Likes icon" descr="Likes">    </p:cNvPr>
          <p:cNvPicPr>
            <a:picLocks noChangeAspect="1"/>
          </p:cNvPicPr>
          <p:nvPr/>
        </p:nvPicPr>
        <p:blipFill>
          <a:blip r:embed="rId1"/>
          <a:stretch>
            <a:fillRect/>
          </a:stretch>
        </p:blipFill>
        <p:spPr>
          <a:xfrm>
            <a:off x="960120" y="1783080"/>
            <a:ext cx="274320" cy="274320"/>
          </a:xfrm>
          <a:prstGeom prst="rect">
            <a:avLst/>
          </a:prstGeom>
        </p:spPr>
      </p:pic>
      <p:sp>
        <p:nvSpPr>
          <p:cNvPr id="6" name="Typical heading"/>
          <p:cNvSpPr txBox="1"/>
          <p:nvPr/>
        </p:nvSpPr>
        <p:spPr>
          <a:xfrm>
            <a:off x="1554480" y="1645920"/>
            <a:ext cx="2743200" cy="548640"/>
          </a:xfrm>
          <a:prstGeom prst="rect">
            <a:avLst/>
          </a:prstGeom>
          <a:noFill/>
          <a:ln/>
        </p:spPr>
        <p:txBody>
          <a:bodyPr wrap="square" lIns="0" tIns="0" rIns="0" bIns="0" rtlCol="0" anchor="ctr"/>
          <a:lstStyle/>
          <a:p>
            <a:pPr indent="0" marL="0">
              <a:buNone/>
            </a:pPr>
            <a:r>
              <a:rPr lang="en-US" sz="2200" b="1" dirty="0">
                <a:solidFill>
                  <a:schemeClr val="bg1"/>
                </a:solidFill>
              </a:rPr>
              <a:t>Typical platforms</a:t>
            </a:r>
            <a:endParaRPr lang="en-US" sz="2200" dirty="0"/>
          </a:p>
        </p:txBody>
      </p:sp>
      <p:sp>
        <p:nvSpPr>
          <p:cNvPr id="7" name="Typical points"/>
          <p:cNvSpPr txBox="1"/>
          <p:nvPr/>
        </p:nvSpPr>
        <p:spPr>
          <a:xfrm>
            <a:off x="822960" y="2423160"/>
            <a:ext cx="3383280" cy="13716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bg1"/>
                </a:solidFill>
              </a:rPr>
              <a:t>Likes and follower counts rule</a:t>
            </a:r>
            <a:endParaRPr lang="en-US" sz="1800" dirty="0"/>
          </a:p>
          <a:p>
            <a:pPr marL="342900" indent="-342900">
              <a:spcAft>
                <a:spcPts val="1000"/>
              </a:spcAft>
              <a:buSzPct val="100000"/>
              <a:buChar char="•"/>
            </a:pPr>
            <a:r>
              <a:rPr lang="en-US" sz="1800" dirty="0">
                <a:solidFill>
                  <a:schemeClr val="bg1"/>
                </a:solidFill>
              </a:rPr>
              <a:t>Viral posts bury real skill</a:t>
            </a:r>
            <a:endParaRPr lang="en-US" sz="1800" dirty="0"/>
          </a:p>
          <a:p>
            <a:pPr marL="342900" indent="-342900">
              <a:spcAft>
                <a:spcPts val="1000"/>
              </a:spcAft>
              <a:buSzPct val="100000"/>
              <a:buChar char="•"/>
            </a:pPr>
            <a:r>
              <a:rPr lang="en-US" sz="1800" dirty="0">
                <a:solidFill>
                  <a:schemeClr val="bg1"/>
                </a:solidFill>
              </a:rPr>
              <a:t>One endless mixed feed</a:t>
            </a:r>
            <a:endParaRPr lang="en-US" sz="1800" dirty="0"/>
          </a:p>
        </p:txBody>
      </p:sp>
      <p:sp>
        <p:nvSpPr>
          <p:cNvPr id="8" name="Ascend card"/>
          <p:cNvSpPr/>
          <p:nvPr/>
        </p:nvSpPr>
        <p:spPr>
          <a:xfrm>
            <a:off x="4709160" y="1371600"/>
            <a:ext cx="3886200" cy="2606040"/>
          </a:xfrm>
          <a:prstGeom prst="roundRect">
            <a:avLst>
              <a:gd name="adj" fmla="val 4211"/>
            </a:avLst>
          </a:prstGeom>
          <a:solidFill>
            <a:schemeClr val="accent1"/>
          </a:solidFill>
          <a:ln/>
          <a:effectLst>
            <a:outerShdw sx="100000" sy="100000" kx="0" ky="0" algn="bl" rotWithShape="0" blurRad="76200" dist="25400" dir="5400000">
              <a:srgbClr val="000000">
                <a:alpha val="35000"/>
              </a:srgbClr>
            </a:outerShdw>
          </a:effectLst>
        </p:spPr>
      </p:sp>
      <p:sp>
        <p:nvSpPr>
          <p:cNvPr id="9" name="Star circle"/>
          <p:cNvSpPr/>
          <p:nvPr/>
        </p:nvSpPr>
        <p:spPr>
          <a:xfrm>
            <a:off x="4983480" y="1645920"/>
            <a:ext cx="548640" cy="548640"/>
          </a:xfrm>
          <a:prstGeom prst="ellipse">
            <a:avLst/>
          </a:prstGeom>
          <a:solidFill>
            <a:schemeClr val="tx1"/>
          </a:solidFill>
          <a:ln/>
        </p:spPr>
      </p:sp>
      <p:pic>
        <p:nvPicPr>
          <p:cNvPr id="10" name="Star icon" descr="Star">    </p:cNvPr>
          <p:cNvPicPr>
            <a:picLocks noChangeAspect="1"/>
          </p:cNvPicPr>
          <p:nvPr/>
        </p:nvPicPr>
        <p:blipFill>
          <a:blip r:embed="rId2"/>
          <a:stretch>
            <a:fillRect/>
          </a:stretch>
        </p:blipFill>
        <p:spPr>
          <a:xfrm>
            <a:off x="5120640" y="1783080"/>
            <a:ext cx="274320" cy="274320"/>
          </a:xfrm>
          <a:prstGeom prst="rect">
            <a:avLst/>
          </a:prstGeom>
        </p:spPr>
      </p:pic>
      <p:sp>
        <p:nvSpPr>
          <p:cNvPr id="11" name="Ascend heading"/>
          <p:cNvSpPr txBox="1"/>
          <p:nvPr/>
        </p:nvSpPr>
        <p:spPr>
          <a:xfrm>
            <a:off x="5715000" y="1645920"/>
            <a:ext cx="2743200" cy="548640"/>
          </a:xfrm>
          <a:prstGeom prst="rect">
            <a:avLst/>
          </a:prstGeom>
          <a:noFill/>
          <a:ln/>
        </p:spPr>
        <p:txBody>
          <a:bodyPr wrap="square" lIns="0" tIns="0" rIns="0" bIns="0" rtlCol="0" anchor="ctr"/>
          <a:lstStyle/>
          <a:p>
            <a:pPr indent="0" marL="0">
              <a:buNone/>
            </a:pPr>
            <a:r>
              <a:rPr lang="en-US" sz="2200" b="1" dirty="0">
                <a:solidFill>
                  <a:schemeClr val="tx1"/>
                </a:solidFill>
              </a:rPr>
              <a:t>Ascend</a:t>
            </a:r>
            <a:endParaRPr lang="en-US" sz="2200" dirty="0"/>
          </a:p>
        </p:txBody>
      </p:sp>
      <p:sp>
        <p:nvSpPr>
          <p:cNvPr id="12" name="Ascend points"/>
          <p:cNvSpPr txBox="1"/>
          <p:nvPr/>
        </p:nvSpPr>
        <p:spPr>
          <a:xfrm>
            <a:off x="4983480" y="2423160"/>
            <a:ext cx="3383280" cy="13716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Endorsements show real skill</a:t>
            </a:r>
            <a:endParaRPr lang="en-US" sz="1800" dirty="0"/>
          </a:p>
          <a:p>
            <a:pPr marL="342900" indent="-342900">
              <a:spcAft>
                <a:spcPts val="1000"/>
              </a:spcAft>
              <a:buSzPct val="100000"/>
              <a:buChar char="•"/>
            </a:pPr>
            <a:r>
              <a:rPr lang="en-US" sz="1800" dirty="0">
                <a:solidFill>
                  <a:schemeClr val="tx1"/>
                </a:solidFill>
              </a:rPr>
              <a:t>Tiers reward steady growth</a:t>
            </a:r>
            <a:endParaRPr lang="en-US" sz="1800" dirty="0"/>
          </a:p>
          <a:p>
            <a:pPr marL="342900" indent="-342900">
              <a:spcAft>
                <a:spcPts val="1000"/>
              </a:spcAft>
              <a:buSzPct val="100000"/>
              <a:buChar char="•"/>
            </a:pPr>
            <a:r>
              <a:rPr lang="en-US" sz="1800" dirty="0">
                <a:solidFill>
                  <a:schemeClr val="tx1"/>
                </a:solidFill>
              </a:rPr>
              <a:t>Browse talent by category</a:t>
            </a:r>
            <a:endParaRPr lang="en-US" sz="1800" dirty="0"/>
          </a:p>
        </p:txBody>
      </p:sp>
      <p:sp>
        <p:nvSpPr>
          <p:cNvPr id="13" name="Takeaway"/>
          <p:cNvSpPr txBox="1"/>
          <p:nvPr/>
        </p:nvSpPr>
        <p:spPr>
          <a:xfrm>
            <a:off x="548640" y="4160520"/>
            <a:ext cx="8046720" cy="365760"/>
          </a:xfrm>
          <a:prstGeom prst="rect">
            <a:avLst/>
          </a:prstGeom>
          <a:noFill/>
          <a:ln/>
        </p:spPr>
        <p:txBody>
          <a:bodyPr wrap="square" lIns="0" tIns="0" rIns="0" bIns="0" rtlCol="0" anchor="ctr"/>
          <a:lstStyle/>
          <a:p>
            <a:pPr indent="0" marL="0">
              <a:buNone/>
            </a:pPr>
            <a:r>
              <a:rPr lang="en-US" sz="1600" i="1" dirty="0">
                <a:solidFill>
                  <a:schemeClr val="bg2"/>
                </a:solidFill>
              </a:rPr>
              <a:t>Ascend makes recognition the core feature, not an extra.</a:t>
            </a:r>
            <a:endParaRPr lang="en-US" sz="16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7406640" cy="731520"/>
          </a:xfrm>
          <a:prstGeom prst="rect">
            <a:avLst/>
          </a:prstGeom>
          <a:noFill/>
          <a:ln/>
        </p:spPr>
        <p:txBody>
          <a:bodyPr wrap="square" lIns="0" tIns="0" rIns="0" bIns="0" rtlCol="0" anchor="ctr"/>
          <a:lstStyle/>
          <a:p>
            <a:pPr algn="l" indent="0" marL="0">
              <a:buNone/>
            </a:pPr>
            <a:r>
              <a:rPr lang="en-US" sz="3600" b="1" dirty="0">
                <a:solidFill>
                  <a:schemeClr val="bg1"/>
                </a:solidFill>
              </a:rPr>
              <a:t>Meet Ascend</a:t>
            </a:r>
            <a:endParaRPr lang="en-US" sz="3600" dirty="0"/>
          </a:p>
        </p:txBody>
      </p:sp>
      <p:sp>
        <p:nvSpPr>
          <p:cNvPr id="3" name="Subtitle"/>
          <p:cNvSpPr txBox="1"/>
          <p:nvPr/>
        </p:nvSpPr>
        <p:spPr>
          <a:xfrm>
            <a:off x="548640" y="1188720"/>
            <a:ext cx="8046720" cy="411480"/>
          </a:xfrm>
          <a:prstGeom prst="rect">
            <a:avLst/>
          </a:prstGeom>
          <a:noFill/>
          <a:ln/>
        </p:spPr>
        <p:txBody>
          <a:bodyPr wrap="square" lIns="0" tIns="0" rIns="0" bIns="0" rtlCol="0" anchor="ctr"/>
          <a:lstStyle/>
          <a:p>
            <a:pPr indent="0" marL="0">
              <a:buNone/>
            </a:pPr>
            <a:r>
              <a:rPr lang="en-US" sz="1600" dirty="0">
                <a:solidFill>
                  <a:schemeClr val="bg2"/>
                </a:solidFill>
              </a:rPr>
              <a:t>A social platform where your talent is recognised by the community</a:t>
            </a:r>
            <a:endParaRPr lang="en-US" sz="1600" dirty="0"/>
          </a:p>
        </p:txBody>
      </p:sp>
      <p:sp>
        <p:nvSpPr>
          <p:cNvPr id="4" name="Step card 1"/>
          <p:cNvSpPr/>
          <p:nvPr/>
        </p:nvSpPr>
        <p:spPr>
          <a:xfrm>
            <a:off x="548640" y="1828800"/>
            <a:ext cx="2529840" cy="2606040"/>
          </a:xfrm>
          <a:prstGeom prst="roundRect">
            <a:avLst>
              <a:gd name="adj" fmla="val 4337"/>
            </a:avLst>
          </a:prstGeom>
          <a:solidFill>
            <a:schemeClr val="tx2"/>
          </a:solidFill>
          <a:ln/>
          <a:effectLst>
            <a:outerShdw sx="100000" sy="100000" kx="0" ky="0" algn="bl" rotWithShape="0" blurRad="76200" dist="25400" dir="5400000">
              <a:srgbClr val="000000">
                <a:alpha val="35000"/>
              </a:srgbClr>
            </a:outerShdw>
          </a:effectLst>
        </p:spPr>
      </p:sp>
      <p:sp>
        <p:nvSpPr>
          <p:cNvPr id="5" name="Number circle 1"/>
          <p:cNvSpPr/>
          <p:nvPr/>
        </p:nvSpPr>
        <p:spPr>
          <a:xfrm>
            <a:off x="777240" y="2057400"/>
            <a:ext cx="640080" cy="640080"/>
          </a:xfrm>
          <a:prstGeom prst="ellipse">
            <a:avLst/>
          </a:prstGeom>
          <a:solidFill>
            <a:schemeClr val="accent1"/>
          </a:solidFill>
          <a:ln/>
        </p:spPr>
      </p:sp>
      <p:sp>
        <p:nvSpPr>
          <p:cNvPr id="6" name="Number 1"/>
          <p:cNvSpPr txBox="1"/>
          <p:nvPr/>
        </p:nvSpPr>
        <p:spPr>
          <a:xfrm>
            <a:off x="777240" y="2057400"/>
            <a:ext cx="640080" cy="640080"/>
          </a:xfrm>
          <a:prstGeom prst="rect">
            <a:avLst/>
          </a:prstGeom>
          <a:noFill/>
          <a:ln/>
        </p:spPr>
        <p:txBody>
          <a:bodyPr wrap="square" lIns="0" tIns="0" rIns="0" bIns="0" rtlCol="0" anchor="ctr"/>
          <a:lstStyle/>
          <a:p>
            <a:pPr algn="ctr" indent="0" marL="0">
              <a:buNone/>
            </a:pPr>
            <a:r>
              <a:rPr lang="en-US" sz="2800" b="1" dirty="0">
                <a:solidFill>
                  <a:schemeClr val="tx1"/>
                </a:solidFill>
              </a:rPr>
              <a:t>1</a:t>
            </a:r>
            <a:endParaRPr lang="en-US" sz="2800" dirty="0"/>
          </a:p>
        </p:txBody>
      </p:sp>
      <p:sp>
        <p:nvSpPr>
          <p:cNvPr id="7" name="Step title 1"/>
          <p:cNvSpPr txBox="1"/>
          <p:nvPr/>
        </p:nvSpPr>
        <p:spPr>
          <a:xfrm>
            <a:off x="777240" y="2834640"/>
            <a:ext cx="2072640" cy="365760"/>
          </a:xfrm>
          <a:prstGeom prst="rect">
            <a:avLst/>
          </a:prstGeom>
          <a:noFill/>
          <a:ln/>
        </p:spPr>
        <p:txBody>
          <a:bodyPr wrap="square" lIns="0" tIns="0" rIns="0" bIns="0" rtlCol="0" anchor="ctr"/>
          <a:lstStyle/>
          <a:p>
            <a:pPr indent="0" marL="0">
              <a:buNone/>
            </a:pPr>
            <a:r>
              <a:rPr lang="en-US" sz="2000" b="1" dirty="0">
                <a:solidFill>
                  <a:schemeClr val="bg1"/>
                </a:solidFill>
              </a:rPr>
              <a:t>Post your talent</a:t>
            </a:r>
            <a:endParaRPr lang="en-US" sz="2000" dirty="0"/>
          </a:p>
        </p:txBody>
      </p:sp>
      <p:sp>
        <p:nvSpPr>
          <p:cNvPr id="8" name="Step text 1"/>
          <p:cNvSpPr txBox="1"/>
          <p:nvPr/>
        </p:nvSpPr>
        <p:spPr>
          <a:xfrm>
            <a:off x="777240" y="3246120"/>
            <a:ext cx="2072640" cy="1051560"/>
          </a:xfrm>
          <a:prstGeom prst="rect">
            <a:avLst/>
          </a:prstGeom>
          <a:noFill/>
          <a:ln/>
        </p:spPr>
        <p:txBody>
          <a:bodyPr wrap="square" lIns="0" tIns="0" rIns="0" bIns="0" rtlCol="0" anchor="t"/>
          <a:lstStyle/>
          <a:p>
            <a:pPr indent="0" marL="0">
              <a:buNone/>
            </a:pPr>
            <a:r>
              <a:rPr lang="en-US" sz="1400" dirty="0">
                <a:solidFill>
                  <a:schemeClr val="bg2"/>
                </a:solidFill>
              </a:rPr>
              <a:t>Share a photo or video in Performing Arts, Technical, Academic or Sports.</a:t>
            </a:r>
            <a:endParaRPr lang="en-US" sz="1400" dirty="0"/>
          </a:p>
        </p:txBody>
      </p:sp>
      <p:sp>
        <p:nvSpPr>
          <p:cNvPr id="9" name="Step card 2"/>
          <p:cNvSpPr/>
          <p:nvPr/>
        </p:nvSpPr>
        <p:spPr>
          <a:xfrm>
            <a:off x="3307080" y="1828800"/>
            <a:ext cx="2529840" cy="2606040"/>
          </a:xfrm>
          <a:prstGeom prst="roundRect">
            <a:avLst>
              <a:gd name="adj" fmla="val 4337"/>
            </a:avLst>
          </a:prstGeom>
          <a:solidFill>
            <a:schemeClr val="tx2"/>
          </a:solidFill>
          <a:ln/>
          <a:effectLst>
            <a:outerShdw sx="100000" sy="100000" kx="0" ky="0" algn="bl" rotWithShape="0" blurRad="76200" dist="25400" dir="5400000">
              <a:srgbClr val="000000">
                <a:alpha val="35000"/>
              </a:srgbClr>
            </a:outerShdw>
          </a:effectLst>
        </p:spPr>
      </p:sp>
      <p:sp>
        <p:nvSpPr>
          <p:cNvPr id="10" name="Number circle 2"/>
          <p:cNvSpPr/>
          <p:nvPr/>
        </p:nvSpPr>
        <p:spPr>
          <a:xfrm>
            <a:off x="3535680" y="2057400"/>
            <a:ext cx="640080" cy="640080"/>
          </a:xfrm>
          <a:prstGeom prst="ellipse">
            <a:avLst/>
          </a:prstGeom>
          <a:solidFill>
            <a:schemeClr val="accent1"/>
          </a:solidFill>
          <a:ln/>
        </p:spPr>
      </p:sp>
      <p:sp>
        <p:nvSpPr>
          <p:cNvPr id="11" name="Number 2"/>
          <p:cNvSpPr txBox="1"/>
          <p:nvPr/>
        </p:nvSpPr>
        <p:spPr>
          <a:xfrm>
            <a:off x="3535680" y="2057400"/>
            <a:ext cx="640080" cy="640080"/>
          </a:xfrm>
          <a:prstGeom prst="rect">
            <a:avLst/>
          </a:prstGeom>
          <a:noFill/>
          <a:ln/>
        </p:spPr>
        <p:txBody>
          <a:bodyPr wrap="square" lIns="0" tIns="0" rIns="0" bIns="0" rtlCol="0" anchor="ctr"/>
          <a:lstStyle/>
          <a:p>
            <a:pPr algn="ctr" indent="0" marL="0">
              <a:buNone/>
            </a:pPr>
            <a:r>
              <a:rPr lang="en-US" sz="2800" b="1" dirty="0">
                <a:solidFill>
                  <a:schemeClr val="tx1"/>
                </a:solidFill>
              </a:rPr>
              <a:t>2</a:t>
            </a:r>
            <a:endParaRPr lang="en-US" sz="2800" dirty="0"/>
          </a:p>
        </p:txBody>
      </p:sp>
      <p:sp>
        <p:nvSpPr>
          <p:cNvPr id="12" name="Step title 2"/>
          <p:cNvSpPr txBox="1"/>
          <p:nvPr/>
        </p:nvSpPr>
        <p:spPr>
          <a:xfrm>
            <a:off x="3535680" y="2834640"/>
            <a:ext cx="2072640" cy="365760"/>
          </a:xfrm>
          <a:prstGeom prst="rect">
            <a:avLst/>
          </a:prstGeom>
          <a:noFill/>
          <a:ln/>
        </p:spPr>
        <p:txBody>
          <a:bodyPr wrap="square" lIns="0" tIns="0" rIns="0" bIns="0" rtlCol="0" anchor="ctr"/>
          <a:lstStyle/>
          <a:p>
            <a:pPr indent="0" marL="0">
              <a:buNone/>
            </a:pPr>
            <a:r>
              <a:rPr lang="en-US" sz="2000" b="1" dirty="0">
                <a:solidFill>
                  <a:schemeClr val="bg1"/>
                </a:solidFill>
              </a:rPr>
              <a:t>Get endorsed</a:t>
            </a:r>
            <a:endParaRPr lang="en-US" sz="2000" dirty="0"/>
          </a:p>
        </p:txBody>
      </p:sp>
      <p:sp>
        <p:nvSpPr>
          <p:cNvPr id="13" name="Step text 2"/>
          <p:cNvSpPr txBox="1"/>
          <p:nvPr/>
        </p:nvSpPr>
        <p:spPr>
          <a:xfrm>
            <a:off x="3535680" y="3246120"/>
            <a:ext cx="2072640" cy="1051560"/>
          </a:xfrm>
          <a:prstGeom prst="rect">
            <a:avLst/>
          </a:prstGeom>
          <a:noFill/>
          <a:ln/>
        </p:spPr>
        <p:txBody>
          <a:bodyPr wrap="square" lIns="0" tIns="0" rIns="0" bIns="0" rtlCol="0" anchor="t"/>
          <a:lstStyle/>
          <a:p>
            <a:pPr indent="0" marL="0">
              <a:buNone/>
            </a:pPr>
            <a:r>
              <a:rPr lang="en-US" sz="1400" dirty="0">
                <a:solidFill>
                  <a:schemeClr val="bg2"/>
                </a:solidFill>
              </a:rPr>
              <a:t>Viewers endorse the talents they rate, giving real recognition.</a:t>
            </a:r>
            <a:endParaRPr lang="en-US" sz="1400" dirty="0"/>
          </a:p>
        </p:txBody>
      </p:sp>
      <p:sp>
        <p:nvSpPr>
          <p:cNvPr id="14" name="Step card 3"/>
          <p:cNvSpPr/>
          <p:nvPr/>
        </p:nvSpPr>
        <p:spPr>
          <a:xfrm>
            <a:off x="6065520" y="1828800"/>
            <a:ext cx="2529840" cy="2606040"/>
          </a:xfrm>
          <a:prstGeom prst="roundRect">
            <a:avLst>
              <a:gd name="adj" fmla="val 4337"/>
            </a:avLst>
          </a:prstGeom>
          <a:solidFill>
            <a:schemeClr val="tx2"/>
          </a:solidFill>
          <a:ln/>
          <a:effectLst>
            <a:outerShdw sx="100000" sy="100000" kx="0" ky="0" algn="bl" rotWithShape="0" blurRad="76200" dist="25400" dir="5400000">
              <a:srgbClr val="000000">
                <a:alpha val="35000"/>
              </a:srgbClr>
            </a:outerShdw>
          </a:effectLst>
        </p:spPr>
      </p:sp>
      <p:sp>
        <p:nvSpPr>
          <p:cNvPr id="15" name="Number circle 3"/>
          <p:cNvSpPr/>
          <p:nvPr/>
        </p:nvSpPr>
        <p:spPr>
          <a:xfrm>
            <a:off x="6294120" y="2057400"/>
            <a:ext cx="640080" cy="640080"/>
          </a:xfrm>
          <a:prstGeom prst="ellipse">
            <a:avLst/>
          </a:prstGeom>
          <a:solidFill>
            <a:schemeClr val="accent1"/>
          </a:solidFill>
          <a:ln/>
        </p:spPr>
      </p:sp>
      <p:sp>
        <p:nvSpPr>
          <p:cNvPr id="16" name="Number 3"/>
          <p:cNvSpPr txBox="1"/>
          <p:nvPr/>
        </p:nvSpPr>
        <p:spPr>
          <a:xfrm>
            <a:off x="6294120" y="2057400"/>
            <a:ext cx="640080" cy="640080"/>
          </a:xfrm>
          <a:prstGeom prst="rect">
            <a:avLst/>
          </a:prstGeom>
          <a:noFill/>
          <a:ln/>
        </p:spPr>
        <p:txBody>
          <a:bodyPr wrap="square" lIns="0" tIns="0" rIns="0" bIns="0" rtlCol="0" anchor="ctr"/>
          <a:lstStyle/>
          <a:p>
            <a:pPr algn="ctr" indent="0" marL="0">
              <a:buNone/>
            </a:pPr>
            <a:r>
              <a:rPr lang="en-US" sz="2800" b="1" dirty="0">
                <a:solidFill>
                  <a:schemeClr val="tx1"/>
                </a:solidFill>
              </a:rPr>
              <a:t>3</a:t>
            </a:r>
            <a:endParaRPr lang="en-US" sz="2800" dirty="0"/>
          </a:p>
        </p:txBody>
      </p:sp>
      <p:sp>
        <p:nvSpPr>
          <p:cNvPr id="17" name="Step title 3"/>
          <p:cNvSpPr txBox="1"/>
          <p:nvPr/>
        </p:nvSpPr>
        <p:spPr>
          <a:xfrm>
            <a:off x="6294120" y="2834640"/>
            <a:ext cx="2072640" cy="365760"/>
          </a:xfrm>
          <a:prstGeom prst="rect">
            <a:avLst/>
          </a:prstGeom>
          <a:noFill/>
          <a:ln/>
        </p:spPr>
        <p:txBody>
          <a:bodyPr wrap="square" lIns="0" tIns="0" rIns="0" bIns="0" rtlCol="0" anchor="ctr"/>
          <a:lstStyle/>
          <a:p>
            <a:pPr indent="0" marL="0">
              <a:buNone/>
            </a:pPr>
            <a:r>
              <a:rPr lang="en-US" sz="2000" b="1" dirty="0">
                <a:solidFill>
                  <a:schemeClr val="bg1"/>
                </a:solidFill>
              </a:rPr>
              <a:t>Climb the tiers</a:t>
            </a:r>
            <a:endParaRPr lang="en-US" sz="2000" dirty="0"/>
          </a:p>
        </p:txBody>
      </p:sp>
      <p:sp>
        <p:nvSpPr>
          <p:cNvPr id="18" name="Step text 3"/>
          <p:cNvSpPr txBox="1"/>
          <p:nvPr/>
        </p:nvSpPr>
        <p:spPr>
          <a:xfrm>
            <a:off x="6294120" y="3246120"/>
            <a:ext cx="2072640" cy="1051560"/>
          </a:xfrm>
          <a:prstGeom prst="rect">
            <a:avLst/>
          </a:prstGeom>
          <a:noFill/>
          <a:ln/>
        </p:spPr>
        <p:txBody>
          <a:bodyPr wrap="square" lIns="0" tIns="0" rIns="0" bIns="0" rtlCol="0" anchor="t"/>
          <a:lstStyle/>
          <a:p>
            <a:pPr indent="0" marL="0">
              <a:buNone/>
            </a:pPr>
            <a:r>
              <a:rPr lang="en-US" sz="1400" dirty="0">
                <a:solidFill>
                  <a:schemeClr val="bg2"/>
                </a:solidFill>
              </a:rPr>
              <a:t>Endorsements lift each talent from Bronze all the way to Legend.</a:t>
            </a:r>
            <a:endParaRPr lang="en-US" sz="14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7406640" cy="731520"/>
          </a:xfrm>
          <a:prstGeom prst="rect">
            <a:avLst/>
          </a:prstGeom>
          <a:noFill/>
          <a:ln/>
        </p:spPr>
        <p:txBody>
          <a:bodyPr wrap="square" lIns="0" tIns="0" rIns="0" bIns="0" rtlCol="0" anchor="ctr"/>
          <a:lstStyle/>
          <a:p>
            <a:pPr algn="l" indent="0" marL="0">
              <a:buNone/>
            </a:pPr>
            <a:r>
              <a:rPr lang="en-US" sz="3600" b="1" dirty="0">
                <a:solidFill>
                  <a:schemeClr val="bg1"/>
                </a:solidFill>
              </a:rPr>
              <a:t>What Ascend can do</a:t>
            </a:r>
            <a:endParaRPr lang="en-US" sz="3600" dirty="0"/>
          </a:p>
        </p:txBody>
      </p:sp>
      <p:sp>
        <p:nvSpPr>
          <p:cNvPr id="3" name="Feature card 1"/>
          <p:cNvSpPr/>
          <p:nvPr/>
        </p:nvSpPr>
        <p:spPr>
          <a:xfrm>
            <a:off x="548640" y="1325880"/>
            <a:ext cx="2529840" cy="1554480"/>
          </a:xfrm>
          <a:prstGeom prst="roundRect">
            <a:avLst>
              <a:gd name="adj" fmla="val 7059"/>
            </a:avLst>
          </a:prstGeom>
          <a:solidFill>
            <a:schemeClr val="tx2"/>
          </a:solidFill>
          <a:ln/>
          <a:effectLst>
            <a:outerShdw sx="100000" sy="100000" kx="0" ky="0" algn="bl" rotWithShape="0" blurRad="76200" dist="25400" dir="5400000">
              <a:srgbClr val="000000">
                <a:alpha val="35000"/>
              </a:srgbClr>
            </a:outerShdw>
          </a:effectLst>
        </p:spPr>
      </p:sp>
      <p:sp>
        <p:nvSpPr>
          <p:cNvPr id="4" name="Sign up and login circle"/>
          <p:cNvSpPr/>
          <p:nvPr/>
        </p:nvSpPr>
        <p:spPr>
          <a:xfrm>
            <a:off x="731520" y="1490472"/>
            <a:ext cx="457200" cy="457200"/>
          </a:xfrm>
          <a:prstGeom prst="ellipse">
            <a:avLst/>
          </a:prstGeom>
          <a:solidFill>
            <a:schemeClr val="accent1"/>
          </a:solidFill>
          <a:ln/>
        </p:spPr>
      </p:sp>
      <p:pic>
        <p:nvPicPr>
          <p:cNvPr id="5" name="Sign up and login icon" descr="Sign up and login">    </p:cNvPr>
          <p:cNvPicPr>
            <a:picLocks noChangeAspect="1"/>
          </p:cNvPicPr>
          <p:nvPr/>
        </p:nvPicPr>
        <p:blipFill>
          <a:blip r:embed="rId1"/>
          <a:stretch>
            <a:fillRect/>
          </a:stretch>
        </p:blipFill>
        <p:spPr>
          <a:xfrm>
            <a:off x="845820" y="1604772"/>
            <a:ext cx="228600" cy="228600"/>
          </a:xfrm>
          <a:prstGeom prst="rect">
            <a:avLst/>
          </a:prstGeom>
        </p:spPr>
      </p:pic>
      <p:sp>
        <p:nvSpPr>
          <p:cNvPr id="6" name="Feature title 1"/>
          <p:cNvSpPr txBox="1"/>
          <p:nvPr/>
        </p:nvSpPr>
        <p:spPr>
          <a:xfrm>
            <a:off x="1325880" y="1490472"/>
            <a:ext cx="1615440" cy="457200"/>
          </a:xfrm>
          <a:prstGeom prst="rect">
            <a:avLst/>
          </a:prstGeom>
          <a:noFill/>
          <a:ln/>
        </p:spPr>
        <p:txBody>
          <a:bodyPr wrap="square" lIns="0" tIns="0" rIns="0" bIns="0" rtlCol="0" anchor="ctr"/>
          <a:lstStyle/>
          <a:p>
            <a:pPr indent="0" marL="0">
              <a:buNone/>
            </a:pPr>
            <a:r>
              <a:rPr lang="en-US" sz="1600" b="1" dirty="0">
                <a:solidFill>
                  <a:schemeClr val="bg1"/>
                </a:solidFill>
              </a:rPr>
              <a:t>Sign up and login</a:t>
            </a:r>
            <a:endParaRPr lang="en-US" sz="1600" dirty="0"/>
          </a:p>
        </p:txBody>
      </p:sp>
      <p:sp>
        <p:nvSpPr>
          <p:cNvPr id="7" name="Feature text 1"/>
          <p:cNvSpPr txBox="1"/>
          <p:nvPr/>
        </p:nvSpPr>
        <p:spPr>
          <a:xfrm>
            <a:off x="731520" y="2103120"/>
            <a:ext cx="2164080" cy="685800"/>
          </a:xfrm>
          <a:prstGeom prst="rect">
            <a:avLst/>
          </a:prstGeom>
          <a:noFill/>
          <a:ln/>
        </p:spPr>
        <p:txBody>
          <a:bodyPr wrap="square" lIns="0" tIns="0" rIns="0" bIns="0" rtlCol="0" anchor="t"/>
          <a:lstStyle/>
          <a:p>
            <a:pPr indent="0" marL="0">
              <a:buNone/>
            </a:pPr>
            <a:r>
              <a:rPr lang="en-US" sz="1400" dirty="0">
                <a:solidFill>
                  <a:schemeClr val="bg2"/>
                </a:solidFill>
              </a:rPr>
              <a:t>Email or phone, with a tick confirmation</a:t>
            </a:r>
            <a:endParaRPr lang="en-US" sz="1400" dirty="0"/>
          </a:p>
        </p:txBody>
      </p:sp>
      <p:sp>
        <p:nvSpPr>
          <p:cNvPr id="8" name="Feature card 2"/>
          <p:cNvSpPr/>
          <p:nvPr/>
        </p:nvSpPr>
        <p:spPr>
          <a:xfrm>
            <a:off x="3307080" y="1325880"/>
            <a:ext cx="2529840" cy="1554480"/>
          </a:xfrm>
          <a:prstGeom prst="roundRect">
            <a:avLst>
              <a:gd name="adj" fmla="val 7059"/>
            </a:avLst>
          </a:prstGeom>
          <a:solidFill>
            <a:schemeClr val="tx2"/>
          </a:solidFill>
          <a:ln/>
          <a:effectLst>
            <a:outerShdw sx="100000" sy="100000" kx="0" ky="0" algn="bl" rotWithShape="0" blurRad="76200" dist="25400" dir="5400000">
              <a:srgbClr val="000000">
                <a:alpha val="35000"/>
              </a:srgbClr>
            </a:outerShdw>
          </a:effectLst>
        </p:spPr>
      </p:sp>
      <p:sp>
        <p:nvSpPr>
          <p:cNvPr id="9" name="People search circle"/>
          <p:cNvSpPr/>
          <p:nvPr/>
        </p:nvSpPr>
        <p:spPr>
          <a:xfrm>
            <a:off x="3489960" y="1490472"/>
            <a:ext cx="457200" cy="457200"/>
          </a:xfrm>
          <a:prstGeom prst="ellipse">
            <a:avLst/>
          </a:prstGeom>
          <a:solidFill>
            <a:schemeClr val="accent1"/>
          </a:solidFill>
          <a:ln/>
        </p:spPr>
      </p:sp>
      <p:pic>
        <p:nvPicPr>
          <p:cNvPr id="10" name="People search icon" descr="People search">    </p:cNvPr>
          <p:cNvPicPr>
            <a:picLocks noChangeAspect="1"/>
          </p:cNvPicPr>
          <p:nvPr/>
        </p:nvPicPr>
        <p:blipFill>
          <a:blip r:embed="rId2"/>
          <a:stretch>
            <a:fillRect/>
          </a:stretch>
        </p:blipFill>
        <p:spPr>
          <a:xfrm>
            <a:off x="3604260" y="1604772"/>
            <a:ext cx="228600" cy="228600"/>
          </a:xfrm>
          <a:prstGeom prst="rect">
            <a:avLst/>
          </a:prstGeom>
        </p:spPr>
      </p:pic>
      <p:sp>
        <p:nvSpPr>
          <p:cNvPr id="11" name="Feature title 2"/>
          <p:cNvSpPr txBox="1"/>
          <p:nvPr/>
        </p:nvSpPr>
        <p:spPr>
          <a:xfrm>
            <a:off x="4084320" y="1490472"/>
            <a:ext cx="1615440" cy="457200"/>
          </a:xfrm>
          <a:prstGeom prst="rect">
            <a:avLst/>
          </a:prstGeom>
          <a:noFill/>
          <a:ln/>
        </p:spPr>
        <p:txBody>
          <a:bodyPr wrap="square" lIns="0" tIns="0" rIns="0" bIns="0" rtlCol="0" anchor="ctr"/>
          <a:lstStyle/>
          <a:p>
            <a:pPr indent="0" marL="0">
              <a:buNone/>
            </a:pPr>
            <a:r>
              <a:rPr lang="en-US" sz="1600" b="1" dirty="0">
                <a:solidFill>
                  <a:schemeClr val="bg1"/>
                </a:solidFill>
              </a:rPr>
              <a:t>People search</a:t>
            </a:r>
            <a:endParaRPr lang="en-US" sz="1600" dirty="0"/>
          </a:p>
        </p:txBody>
      </p:sp>
      <p:sp>
        <p:nvSpPr>
          <p:cNvPr id="12" name="Feature text 2"/>
          <p:cNvSpPr txBox="1"/>
          <p:nvPr/>
        </p:nvSpPr>
        <p:spPr>
          <a:xfrm>
            <a:off x="3489960" y="2103120"/>
            <a:ext cx="2164080" cy="685800"/>
          </a:xfrm>
          <a:prstGeom prst="rect">
            <a:avLst/>
          </a:prstGeom>
          <a:noFill/>
          <a:ln/>
        </p:spPr>
        <p:txBody>
          <a:bodyPr wrap="square" lIns="0" tIns="0" rIns="0" bIns="0" rtlCol="0" anchor="t"/>
          <a:lstStyle/>
          <a:p>
            <a:pPr indent="0" marL="0">
              <a:buNone/>
            </a:pPr>
            <a:r>
              <a:rPr lang="en-US" sz="1400" dirty="0">
                <a:solidFill>
                  <a:schemeClr val="bg2"/>
                </a:solidFill>
              </a:rPr>
              <a:t>Find any user by username</a:t>
            </a:r>
            <a:endParaRPr lang="en-US" sz="1400" dirty="0"/>
          </a:p>
        </p:txBody>
      </p:sp>
      <p:sp>
        <p:nvSpPr>
          <p:cNvPr id="13" name="Feature card 3"/>
          <p:cNvSpPr/>
          <p:nvPr/>
        </p:nvSpPr>
        <p:spPr>
          <a:xfrm>
            <a:off x="6065520" y="1325880"/>
            <a:ext cx="2529840" cy="1554480"/>
          </a:xfrm>
          <a:prstGeom prst="roundRect">
            <a:avLst>
              <a:gd name="adj" fmla="val 7059"/>
            </a:avLst>
          </a:prstGeom>
          <a:solidFill>
            <a:schemeClr val="tx2"/>
          </a:solidFill>
          <a:ln/>
          <a:effectLst>
            <a:outerShdw sx="100000" sy="100000" kx="0" ky="0" algn="bl" rotWithShape="0" blurRad="76200" dist="25400" dir="5400000">
              <a:srgbClr val="000000">
                <a:alpha val="35000"/>
              </a:srgbClr>
            </a:outerShdw>
          </a:effectLst>
        </p:spPr>
      </p:sp>
      <p:sp>
        <p:nvSpPr>
          <p:cNvPr id="14" name="Instagram-style grid circle"/>
          <p:cNvSpPr/>
          <p:nvPr/>
        </p:nvSpPr>
        <p:spPr>
          <a:xfrm>
            <a:off x="6248400" y="1490472"/>
            <a:ext cx="457200" cy="457200"/>
          </a:xfrm>
          <a:prstGeom prst="ellipse">
            <a:avLst/>
          </a:prstGeom>
          <a:solidFill>
            <a:schemeClr val="accent1"/>
          </a:solidFill>
          <a:ln/>
        </p:spPr>
      </p:sp>
      <p:pic>
        <p:nvPicPr>
          <p:cNvPr id="15" name="Instagram-style grid icon" descr="Instagram-style grid">    </p:cNvPr>
          <p:cNvPicPr>
            <a:picLocks noChangeAspect="1"/>
          </p:cNvPicPr>
          <p:nvPr/>
        </p:nvPicPr>
        <p:blipFill>
          <a:blip r:embed="rId3"/>
          <a:stretch>
            <a:fillRect/>
          </a:stretch>
        </p:blipFill>
        <p:spPr>
          <a:xfrm>
            <a:off x="6362700" y="1604772"/>
            <a:ext cx="228600" cy="228600"/>
          </a:xfrm>
          <a:prstGeom prst="rect">
            <a:avLst/>
          </a:prstGeom>
        </p:spPr>
      </p:pic>
      <p:sp>
        <p:nvSpPr>
          <p:cNvPr id="16" name="Feature title 3"/>
          <p:cNvSpPr txBox="1"/>
          <p:nvPr/>
        </p:nvSpPr>
        <p:spPr>
          <a:xfrm>
            <a:off x="6842760" y="1490472"/>
            <a:ext cx="1615440" cy="457200"/>
          </a:xfrm>
          <a:prstGeom prst="rect">
            <a:avLst/>
          </a:prstGeom>
          <a:noFill/>
          <a:ln/>
        </p:spPr>
        <p:txBody>
          <a:bodyPr wrap="square" lIns="0" tIns="0" rIns="0" bIns="0" rtlCol="0" anchor="ctr"/>
          <a:lstStyle/>
          <a:p>
            <a:pPr indent="0" marL="0">
              <a:buNone/>
            </a:pPr>
            <a:r>
              <a:rPr lang="en-US" sz="1600" b="1" dirty="0">
                <a:solidFill>
                  <a:schemeClr val="bg1"/>
                </a:solidFill>
              </a:rPr>
              <a:t>Instagram-style grid</a:t>
            </a:r>
            <a:endParaRPr lang="en-US" sz="1600" dirty="0"/>
          </a:p>
        </p:txBody>
      </p:sp>
      <p:sp>
        <p:nvSpPr>
          <p:cNvPr id="17" name="Feature text 3"/>
          <p:cNvSpPr txBox="1"/>
          <p:nvPr/>
        </p:nvSpPr>
        <p:spPr>
          <a:xfrm>
            <a:off x="6248400" y="2103120"/>
            <a:ext cx="2164080" cy="685800"/>
          </a:xfrm>
          <a:prstGeom prst="rect">
            <a:avLst/>
          </a:prstGeom>
          <a:noFill/>
          <a:ln/>
        </p:spPr>
        <p:txBody>
          <a:bodyPr wrap="square" lIns="0" tIns="0" rIns="0" bIns="0" rtlCol="0" anchor="t"/>
          <a:lstStyle/>
          <a:p>
            <a:pPr indent="0" marL="0">
              <a:buNone/>
            </a:pPr>
            <a:r>
              <a:rPr lang="en-US" sz="1400" dirty="0">
                <a:solidFill>
                  <a:schemeClr val="bg2"/>
                </a:solidFill>
              </a:rPr>
              <a:t>Browse every talent as a tile</a:t>
            </a:r>
            <a:endParaRPr lang="en-US" sz="1400" dirty="0"/>
          </a:p>
        </p:txBody>
      </p:sp>
      <p:sp>
        <p:nvSpPr>
          <p:cNvPr id="18" name="Feature card 4"/>
          <p:cNvSpPr/>
          <p:nvPr/>
        </p:nvSpPr>
        <p:spPr>
          <a:xfrm>
            <a:off x="548640" y="3063240"/>
            <a:ext cx="2529840" cy="1554480"/>
          </a:xfrm>
          <a:prstGeom prst="roundRect">
            <a:avLst>
              <a:gd name="adj" fmla="val 7059"/>
            </a:avLst>
          </a:prstGeom>
          <a:solidFill>
            <a:schemeClr val="tx2"/>
          </a:solidFill>
          <a:ln/>
          <a:effectLst>
            <a:outerShdw sx="100000" sy="100000" kx="0" ky="0" algn="bl" rotWithShape="0" blurRad="76200" dist="25400" dir="5400000">
              <a:srgbClr val="000000">
                <a:alpha val="35000"/>
              </a:srgbClr>
            </a:outerShdw>
          </a:effectLst>
        </p:spPr>
      </p:sp>
      <p:sp>
        <p:nvSpPr>
          <p:cNvPr id="19" name="Reels-style feed circle"/>
          <p:cNvSpPr/>
          <p:nvPr/>
        </p:nvSpPr>
        <p:spPr>
          <a:xfrm>
            <a:off x="731520" y="3227832"/>
            <a:ext cx="457200" cy="457200"/>
          </a:xfrm>
          <a:prstGeom prst="ellipse">
            <a:avLst/>
          </a:prstGeom>
          <a:solidFill>
            <a:schemeClr val="accent1"/>
          </a:solidFill>
          <a:ln/>
        </p:spPr>
      </p:sp>
      <p:pic>
        <p:nvPicPr>
          <p:cNvPr id="20" name="Reels-style feed icon" descr="Reels-style feed">    </p:cNvPr>
          <p:cNvPicPr>
            <a:picLocks noChangeAspect="1"/>
          </p:cNvPicPr>
          <p:nvPr/>
        </p:nvPicPr>
        <p:blipFill>
          <a:blip r:embed="rId4"/>
          <a:stretch>
            <a:fillRect/>
          </a:stretch>
        </p:blipFill>
        <p:spPr>
          <a:xfrm>
            <a:off x="845820" y="3342132"/>
            <a:ext cx="228600" cy="228600"/>
          </a:xfrm>
          <a:prstGeom prst="rect">
            <a:avLst/>
          </a:prstGeom>
        </p:spPr>
      </p:pic>
      <p:sp>
        <p:nvSpPr>
          <p:cNvPr id="21" name="Feature title 4"/>
          <p:cNvSpPr txBox="1"/>
          <p:nvPr/>
        </p:nvSpPr>
        <p:spPr>
          <a:xfrm>
            <a:off x="1325880" y="3227832"/>
            <a:ext cx="1615440" cy="457200"/>
          </a:xfrm>
          <a:prstGeom prst="rect">
            <a:avLst/>
          </a:prstGeom>
          <a:noFill/>
          <a:ln/>
        </p:spPr>
        <p:txBody>
          <a:bodyPr wrap="square" lIns="0" tIns="0" rIns="0" bIns="0" rtlCol="0" anchor="ctr"/>
          <a:lstStyle/>
          <a:p>
            <a:pPr indent="0" marL="0">
              <a:buNone/>
            </a:pPr>
            <a:r>
              <a:rPr lang="en-US" sz="1600" b="1" dirty="0">
                <a:solidFill>
                  <a:schemeClr val="bg1"/>
                </a:solidFill>
              </a:rPr>
              <a:t>Reels-style feed</a:t>
            </a:r>
            <a:endParaRPr lang="en-US" sz="1600" dirty="0"/>
          </a:p>
        </p:txBody>
      </p:sp>
      <p:sp>
        <p:nvSpPr>
          <p:cNvPr id="22" name="Feature text 4"/>
          <p:cNvSpPr txBox="1"/>
          <p:nvPr/>
        </p:nvSpPr>
        <p:spPr>
          <a:xfrm>
            <a:off x="731520" y="3840480"/>
            <a:ext cx="2164080" cy="685800"/>
          </a:xfrm>
          <a:prstGeom prst="rect">
            <a:avLst/>
          </a:prstGeom>
          <a:noFill/>
          <a:ln/>
        </p:spPr>
        <p:txBody>
          <a:bodyPr wrap="square" lIns="0" tIns="0" rIns="0" bIns="0" rtlCol="0" anchor="t"/>
          <a:lstStyle/>
          <a:p>
            <a:pPr indent="0" marL="0">
              <a:buNone/>
            </a:pPr>
            <a:r>
              <a:rPr lang="en-US" sz="1400" dirty="0">
                <a:solidFill>
                  <a:schemeClr val="bg2"/>
                </a:solidFill>
              </a:rPr>
              <a:t>Full-screen, snap-scrolling videos</a:t>
            </a:r>
            <a:endParaRPr lang="en-US" sz="1400" dirty="0"/>
          </a:p>
        </p:txBody>
      </p:sp>
      <p:sp>
        <p:nvSpPr>
          <p:cNvPr id="23" name="Feature card 5"/>
          <p:cNvSpPr/>
          <p:nvPr/>
        </p:nvSpPr>
        <p:spPr>
          <a:xfrm>
            <a:off x="3307080" y="3063240"/>
            <a:ext cx="2529840" cy="1554480"/>
          </a:xfrm>
          <a:prstGeom prst="roundRect">
            <a:avLst>
              <a:gd name="adj" fmla="val 7059"/>
            </a:avLst>
          </a:prstGeom>
          <a:solidFill>
            <a:schemeClr val="tx2"/>
          </a:solidFill>
          <a:ln/>
          <a:effectLst>
            <a:outerShdw sx="100000" sy="100000" kx="0" ky="0" algn="bl" rotWithShape="0" blurRad="76200" dist="25400" dir="5400000">
              <a:srgbClr val="000000">
                <a:alpha val="35000"/>
              </a:srgbClr>
            </a:outerShdw>
          </a:effectLst>
        </p:spPr>
      </p:sp>
      <p:sp>
        <p:nvSpPr>
          <p:cNvPr id="24" name="Photo and video posts circle"/>
          <p:cNvSpPr/>
          <p:nvPr/>
        </p:nvSpPr>
        <p:spPr>
          <a:xfrm>
            <a:off x="3489960" y="3227832"/>
            <a:ext cx="457200" cy="457200"/>
          </a:xfrm>
          <a:prstGeom prst="ellipse">
            <a:avLst/>
          </a:prstGeom>
          <a:solidFill>
            <a:schemeClr val="accent1"/>
          </a:solidFill>
          <a:ln/>
        </p:spPr>
      </p:sp>
      <p:pic>
        <p:nvPicPr>
          <p:cNvPr id="25" name="Photo and video posts icon" descr="Photo and video posts">    </p:cNvPr>
          <p:cNvPicPr>
            <a:picLocks noChangeAspect="1"/>
          </p:cNvPicPr>
          <p:nvPr/>
        </p:nvPicPr>
        <p:blipFill>
          <a:blip r:embed="rId5"/>
          <a:stretch>
            <a:fillRect/>
          </a:stretch>
        </p:blipFill>
        <p:spPr>
          <a:xfrm>
            <a:off x="3604260" y="3342132"/>
            <a:ext cx="228600" cy="228600"/>
          </a:xfrm>
          <a:prstGeom prst="rect">
            <a:avLst/>
          </a:prstGeom>
        </p:spPr>
      </p:pic>
      <p:sp>
        <p:nvSpPr>
          <p:cNvPr id="26" name="Feature title 5"/>
          <p:cNvSpPr txBox="1"/>
          <p:nvPr/>
        </p:nvSpPr>
        <p:spPr>
          <a:xfrm>
            <a:off x="4084320" y="3227832"/>
            <a:ext cx="1615440" cy="457200"/>
          </a:xfrm>
          <a:prstGeom prst="rect">
            <a:avLst/>
          </a:prstGeom>
          <a:noFill/>
          <a:ln/>
        </p:spPr>
        <p:txBody>
          <a:bodyPr wrap="square" lIns="0" tIns="0" rIns="0" bIns="0" rtlCol="0" anchor="ctr"/>
          <a:lstStyle/>
          <a:p>
            <a:pPr indent="0" marL="0">
              <a:buNone/>
            </a:pPr>
            <a:r>
              <a:rPr lang="en-US" sz="1600" b="1" dirty="0">
                <a:solidFill>
                  <a:schemeClr val="bg1"/>
                </a:solidFill>
              </a:rPr>
              <a:t>Photo and video posts</a:t>
            </a:r>
            <a:endParaRPr lang="en-US" sz="1600" dirty="0"/>
          </a:p>
        </p:txBody>
      </p:sp>
      <p:sp>
        <p:nvSpPr>
          <p:cNvPr id="27" name="Feature text 5"/>
          <p:cNvSpPr txBox="1"/>
          <p:nvPr/>
        </p:nvSpPr>
        <p:spPr>
          <a:xfrm>
            <a:off x="3489960" y="3840480"/>
            <a:ext cx="2164080" cy="685800"/>
          </a:xfrm>
          <a:prstGeom prst="rect">
            <a:avLst/>
          </a:prstGeom>
          <a:noFill/>
          <a:ln/>
        </p:spPr>
        <p:txBody>
          <a:bodyPr wrap="square" lIns="0" tIns="0" rIns="0" bIns="0" rtlCol="0" anchor="t"/>
          <a:lstStyle/>
          <a:p>
            <a:pPr indent="0" marL="0">
              <a:buNone/>
            </a:pPr>
            <a:r>
              <a:rPr lang="en-US" sz="1400" dirty="0">
                <a:solidFill>
                  <a:schemeClr val="bg2"/>
                </a:solidFill>
              </a:rPr>
              <a:t>Upload straight from your device</a:t>
            </a:r>
            <a:endParaRPr lang="en-US" sz="1400" dirty="0"/>
          </a:p>
        </p:txBody>
      </p:sp>
      <p:sp>
        <p:nvSpPr>
          <p:cNvPr id="28" name="Feature card 6"/>
          <p:cNvSpPr/>
          <p:nvPr/>
        </p:nvSpPr>
        <p:spPr>
          <a:xfrm>
            <a:off x="6065520" y="3063240"/>
            <a:ext cx="2529840" cy="1554480"/>
          </a:xfrm>
          <a:prstGeom prst="roundRect">
            <a:avLst>
              <a:gd name="adj" fmla="val 7059"/>
            </a:avLst>
          </a:prstGeom>
          <a:solidFill>
            <a:schemeClr val="tx2"/>
          </a:solidFill>
          <a:ln/>
          <a:effectLst>
            <a:outerShdw sx="100000" sy="100000" kx="0" ky="0" algn="bl" rotWithShape="0" blurRad="76200" dist="25400" dir="5400000">
              <a:srgbClr val="000000">
                <a:alpha val="35000"/>
              </a:srgbClr>
            </a:outerShdw>
          </a:effectLst>
        </p:spPr>
      </p:sp>
      <p:sp>
        <p:nvSpPr>
          <p:cNvPr id="29" name="Profile and streaks circle"/>
          <p:cNvSpPr/>
          <p:nvPr/>
        </p:nvSpPr>
        <p:spPr>
          <a:xfrm>
            <a:off x="6248400" y="3227832"/>
            <a:ext cx="457200" cy="457200"/>
          </a:xfrm>
          <a:prstGeom prst="ellipse">
            <a:avLst/>
          </a:prstGeom>
          <a:solidFill>
            <a:schemeClr val="accent1"/>
          </a:solidFill>
          <a:ln/>
        </p:spPr>
      </p:sp>
      <p:pic>
        <p:nvPicPr>
          <p:cNvPr id="30" name="Profile and streaks icon" descr="Profile and streaks">    </p:cNvPr>
          <p:cNvPicPr>
            <a:picLocks noChangeAspect="1"/>
          </p:cNvPicPr>
          <p:nvPr/>
        </p:nvPicPr>
        <p:blipFill>
          <a:blip r:embed="rId6"/>
          <a:stretch>
            <a:fillRect/>
          </a:stretch>
        </p:blipFill>
        <p:spPr>
          <a:xfrm>
            <a:off x="6362700" y="3342132"/>
            <a:ext cx="228600" cy="228600"/>
          </a:xfrm>
          <a:prstGeom prst="rect">
            <a:avLst/>
          </a:prstGeom>
        </p:spPr>
      </p:pic>
      <p:sp>
        <p:nvSpPr>
          <p:cNvPr id="31" name="Feature title 6"/>
          <p:cNvSpPr txBox="1"/>
          <p:nvPr/>
        </p:nvSpPr>
        <p:spPr>
          <a:xfrm>
            <a:off x="6842760" y="3227832"/>
            <a:ext cx="1615440" cy="457200"/>
          </a:xfrm>
          <a:prstGeom prst="rect">
            <a:avLst/>
          </a:prstGeom>
          <a:noFill/>
          <a:ln/>
        </p:spPr>
        <p:txBody>
          <a:bodyPr wrap="square" lIns="0" tIns="0" rIns="0" bIns="0" rtlCol="0" anchor="ctr"/>
          <a:lstStyle/>
          <a:p>
            <a:pPr indent="0" marL="0">
              <a:buNone/>
            </a:pPr>
            <a:r>
              <a:rPr lang="en-US" sz="1600" b="1" dirty="0">
                <a:solidFill>
                  <a:schemeClr val="bg1"/>
                </a:solidFill>
              </a:rPr>
              <a:t>Profile and streaks</a:t>
            </a:r>
            <a:endParaRPr lang="en-US" sz="1600" dirty="0"/>
          </a:p>
        </p:txBody>
      </p:sp>
      <p:sp>
        <p:nvSpPr>
          <p:cNvPr id="32" name="Feature text 6"/>
          <p:cNvSpPr txBox="1"/>
          <p:nvPr/>
        </p:nvSpPr>
        <p:spPr>
          <a:xfrm>
            <a:off x="6248400" y="3840480"/>
            <a:ext cx="2164080" cy="685800"/>
          </a:xfrm>
          <a:prstGeom prst="rect">
            <a:avLst/>
          </a:prstGeom>
          <a:noFill/>
          <a:ln/>
        </p:spPr>
        <p:txBody>
          <a:bodyPr wrap="square" lIns="0" tIns="0" rIns="0" bIns="0" rtlCol="0" anchor="t"/>
          <a:lstStyle/>
          <a:p>
            <a:pPr indent="0" marL="0">
              <a:buNone/>
            </a:pPr>
            <a:r>
              <a:rPr lang="en-US" sz="1400" dirty="0">
                <a:solidFill>
                  <a:schemeClr val="bg2"/>
                </a:solidFill>
              </a:rPr>
              <a:t>Activity tier, progress, daily streak</a:t>
            </a:r>
            <a:endParaRPr lang="en-US" sz="14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7406640" cy="731520"/>
          </a:xfrm>
          <a:prstGeom prst="rect">
            <a:avLst/>
          </a:prstGeom>
          <a:noFill/>
          <a:ln/>
        </p:spPr>
        <p:txBody>
          <a:bodyPr wrap="square" lIns="0" tIns="0" rIns="0" bIns="0" rtlCol="0" anchor="ctr"/>
          <a:lstStyle/>
          <a:p>
            <a:pPr algn="l" indent="0" marL="0">
              <a:buNone/>
            </a:pPr>
            <a:r>
              <a:rPr lang="en-US" sz="3600" b="1" dirty="0">
                <a:solidFill>
                  <a:schemeClr val="bg1"/>
                </a:solidFill>
              </a:rPr>
              <a:t>Five tiers to climb</a:t>
            </a:r>
            <a:endParaRPr lang="en-US" sz="3600" dirty="0"/>
          </a:p>
        </p:txBody>
      </p:sp>
      <p:sp>
        <p:nvSpPr>
          <p:cNvPr id="3" name="Tier caption"/>
          <p:cNvSpPr txBox="1"/>
          <p:nvPr/>
        </p:nvSpPr>
        <p:spPr>
          <a:xfrm>
            <a:off x="548640" y="1188720"/>
            <a:ext cx="6217920" cy="457200"/>
          </a:xfrm>
          <a:prstGeom prst="rect">
            <a:avLst/>
          </a:prstGeom>
          <a:noFill/>
          <a:ln/>
        </p:spPr>
        <p:txBody>
          <a:bodyPr wrap="square" lIns="0" tIns="0" rIns="0" bIns="0" rtlCol="0" anchor="t"/>
          <a:lstStyle/>
          <a:p>
            <a:pPr indent="0" marL="0">
              <a:buNone/>
            </a:pPr>
            <a:r>
              <a:rPr lang="en-US" sz="1600" dirty="0">
                <a:solidFill>
                  <a:schemeClr val="bg2"/>
                </a:solidFill>
              </a:rPr>
              <a:t>Every endorsement moves a talent closer to the next tier.</a:t>
            </a:r>
            <a:endParaRPr lang="en-US" sz="1600" dirty="0"/>
          </a:p>
        </p:txBody>
      </p:sp>
      <p:sp>
        <p:nvSpPr>
          <p:cNvPr id="4" name="Tier block Bronze"/>
          <p:cNvSpPr/>
          <p:nvPr/>
        </p:nvSpPr>
        <p:spPr>
          <a:xfrm>
            <a:off x="731520" y="3657600"/>
            <a:ext cx="1463040" cy="822960"/>
          </a:xfrm>
          <a:prstGeom prst="roundRect">
            <a:avLst>
              <a:gd name="adj" fmla="val 11111"/>
            </a:avLst>
          </a:prstGeom>
          <a:solidFill>
            <a:srgbClr val="8C6239"/>
          </a:solidFill>
          <a:ln/>
          <a:effectLst>
            <a:outerShdw sx="100000" sy="100000" kx="0" ky="0" algn="bl" rotWithShape="0" blurRad="76200" dist="25400" dir="5400000">
              <a:srgbClr val="000000">
                <a:alpha val="35000"/>
              </a:srgbClr>
            </a:outerShdw>
          </a:effectLst>
        </p:spPr>
      </p:sp>
      <p:sp>
        <p:nvSpPr>
          <p:cNvPr id="5" name="Tier label Bronze"/>
          <p:cNvSpPr txBox="1"/>
          <p:nvPr/>
        </p:nvSpPr>
        <p:spPr>
          <a:xfrm>
            <a:off x="731520" y="3730752"/>
            <a:ext cx="1463040" cy="685800"/>
          </a:xfrm>
          <a:prstGeom prst="rect">
            <a:avLst/>
          </a:prstGeom>
          <a:noFill/>
          <a:ln/>
        </p:spPr>
        <p:txBody>
          <a:bodyPr wrap="square" lIns="635" tIns="635" rIns="635" bIns="635" rtlCol="0" anchor="t"/>
          <a:lstStyle/>
          <a:p>
            <a:pPr algn="ctr" indent="0" marL="0">
              <a:buNone/>
            </a:pPr>
            <a:r>
              <a:rPr lang="en-US" sz="1800" b="1" dirty="0">
                <a:solidFill>
                  <a:srgbClr val="F2F2ED"/>
                </a:solidFill>
              </a:rPr>
              <a:t>Bronze</a:t>
            </a:r>
            <a:endParaRPr lang="en-US" sz="1800" dirty="0"/>
          </a:p>
          <a:p>
            <a:pPr algn="ctr" indent="0" marL="0">
              <a:buNone/>
            </a:pPr>
            <a:r>
              <a:rPr lang="en-US" sz="1400" dirty="0">
                <a:solidFill>
                  <a:srgbClr val="F2F2ED"/>
                </a:solidFill>
              </a:rPr>
              <a:t>0+ endorsements</a:t>
            </a:r>
            <a:endParaRPr lang="en-US" sz="1800" dirty="0"/>
          </a:p>
        </p:txBody>
      </p:sp>
      <p:sp>
        <p:nvSpPr>
          <p:cNvPr id="6" name="Tier block Silver"/>
          <p:cNvSpPr/>
          <p:nvPr/>
        </p:nvSpPr>
        <p:spPr>
          <a:xfrm>
            <a:off x="2286000" y="3246120"/>
            <a:ext cx="1463040" cy="1234440"/>
          </a:xfrm>
          <a:prstGeom prst="roundRect">
            <a:avLst>
              <a:gd name="adj" fmla="val 7407"/>
            </a:avLst>
          </a:prstGeom>
          <a:solidFill>
            <a:srgbClr val="7C818C"/>
          </a:solidFill>
          <a:ln/>
          <a:effectLst>
            <a:outerShdw sx="100000" sy="100000" kx="0" ky="0" algn="bl" rotWithShape="0" blurRad="76200" dist="25400" dir="5400000">
              <a:srgbClr val="000000">
                <a:alpha val="35000"/>
              </a:srgbClr>
            </a:outerShdw>
          </a:effectLst>
        </p:spPr>
      </p:sp>
      <p:sp>
        <p:nvSpPr>
          <p:cNvPr id="7" name="Tier label Silver"/>
          <p:cNvSpPr txBox="1"/>
          <p:nvPr/>
        </p:nvSpPr>
        <p:spPr>
          <a:xfrm>
            <a:off x="2286000" y="3319272"/>
            <a:ext cx="1463040" cy="685800"/>
          </a:xfrm>
          <a:prstGeom prst="rect">
            <a:avLst/>
          </a:prstGeom>
          <a:noFill/>
          <a:ln/>
        </p:spPr>
        <p:txBody>
          <a:bodyPr wrap="square" lIns="635" tIns="635" rIns="635" bIns="635" rtlCol="0" anchor="t"/>
          <a:lstStyle/>
          <a:p>
            <a:pPr algn="ctr" indent="0" marL="0">
              <a:buNone/>
            </a:pPr>
            <a:r>
              <a:rPr lang="en-US" sz="1800" b="1" dirty="0">
                <a:solidFill>
                  <a:srgbClr val="111318"/>
                </a:solidFill>
              </a:rPr>
              <a:t>Silver</a:t>
            </a:r>
            <a:endParaRPr lang="en-US" sz="1800" dirty="0"/>
          </a:p>
          <a:p>
            <a:pPr algn="ctr" indent="0" marL="0">
              <a:buNone/>
            </a:pPr>
            <a:r>
              <a:rPr lang="en-US" sz="1400" dirty="0">
                <a:solidFill>
                  <a:srgbClr val="111318"/>
                </a:solidFill>
              </a:rPr>
              <a:t>3+ endorsements</a:t>
            </a:r>
            <a:endParaRPr lang="en-US" sz="1800" dirty="0"/>
          </a:p>
        </p:txBody>
      </p:sp>
      <p:sp>
        <p:nvSpPr>
          <p:cNvPr id="8" name="Tier block Gold"/>
          <p:cNvSpPr/>
          <p:nvPr/>
        </p:nvSpPr>
        <p:spPr>
          <a:xfrm>
            <a:off x="3840480" y="2834640"/>
            <a:ext cx="1463040" cy="1645920"/>
          </a:xfrm>
          <a:prstGeom prst="roundRect">
            <a:avLst>
              <a:gd name="adj" fmla="val 6250"/>
            </a:avLst>
          </a:prstGeom>
          <a:solidFill>
            <a:srgbClr val="D4F547"/>
          </a:solidFill>
          <a:ln/>
          <a:effectLst>
            <a:outerShdw sx="100000" sy="100000" kx="0" ky="0" algn="bl" rotWithShape="0" blurRad="76200" dist="25400" dir="5400000">
              <a:srgbClr val="000000">
                <a:alpha val="35000"/>
              </a:srgbClr>
            </a:outerShdw>
          </a:effectLst>
        </p:spPr>
      </p:sp>
      <p:sp>
        <p:nvSpPr>
          <p:cNvPr id="9" name="Tier label Gold"/>
          <p:cNvSpPr txBox="1"/>
          <p:nvPr/>
        </p:nvSpPr>
        <p:spPr>
          <a:xfrm>
            <a:off x="3840480" y="2907792"/>
            <a:ext cx="1463040" cy="685800"/>
          </a:xfrm>
          <a:prstGeom prst="rect">
            <a:avLst/>
          </a:prstGeom>
          <a:noFill/>
          <a:ln/>
        </p:spPr>
        <p:txBody>
          <a:bodyPr wrap="square" lIns="635" tIns="635" rIns="635" bIns="635" rtlCol="0" anchor="t"/>
          <a:lstStyle/>
          <a:p>
            <a:pPr algn="ctr" indent="0" marL="0">
              <a:buNone/>
            </a:pPr>
            <a:r>
              <a:rPr lang="en-US" sz="1800" b="1" dirty="0">
                <a:solidFill>
                  <a:srgbClr val="111318"/>
                </a:solidFill>
              </a:rPr>
              <a:t>Gold</a:t>
            </a:r>
            <a:endParaRPr lang="en-US" sz="1800" dirty="0"/>
          </a:p>
          <a:p>
            <a:pPr algn="ctr" indent="0" marL="0">
              <a:buNone/>
            </a:pPr>
            <a:r>
              <a:rPr lang="en-US" sz="1400" dirty="0">
                <a:solidFill>
                  <a:srgbClr val="111318"/>
                </a:solidFill>
              </a:rPr>
              <a:t>10+ endorsements</a:t>
            </a:r>
            <a:endParaRPr lang="en-US" sz="1800" dirty="0"/>
          </a:p>
        </p:txBody>
      </p:sp>
      <p:sp>
        <p:nvSpPr>
          <p:cNvPr id="10" name="Tier block Platinum"/>
          <p:cNvSpPr/>
          <p:nvPr/>
        </p:nvSpPr>
        <p:spPr>
          <a:xfrm>
            <a:off x="5394960" y="2423160"/>
            <a:ext cx="1463040" cy="2057400"/>
          </a:xfrm>
          <a:prstGeom prst="roundRect">
            <a:avLst>
              <a:gd name="adj" fmla="val 6250"/>
            </a:avLst>
          </a:prstGeom>
          <a:solidFill>
            <a:srgbClr val="5B7FFF"/>
          </a:solidFill>
          <a:ln/>
          <a:effectLst>
            <a:outerShdw sx="100000" sy="100000" kx="0" ky="0" algn="bl" rotWithShape="0" blurRad="76200" dist="25400" dir="5400000">
              <a:srgbClr val="000000">
                <a:alpha val="35000"/>
              </a:srgbClr>
            </a:outerShdw>
          </a:effectLst>
        </p:spPr>
      </p:sp>
      <p:sp>
        <p:nvSpPr>
          <p:cNvPr id="11" name="Tier label Platinum"/>
          <p:cNvSpPr txBox="1"/>
          <p:nvPr/>
        </p:nvSpPr>
        <p:spPr>
          <a:xfrm>
            <a:off x="5394960" y="2496312"/>
            <a:ext cx="1463040" cy="685800"/>
          </a:xfrm>
          <a:prstGeom prst="rect">
            <a:avLst/>
          </a:prstGeom>
          <a:noFill/>
          <a:ln/>
        </p:spPr>
        <p:txBody>
          <a:bodyPr wrap="square" lIns="635" tIns="635" rIns="635" bIns="635" rtlCol="0" anchor="t"/>
          <a:lstStyle/>
          <a:p>
            <a:pPr algn="ctr" indent="0" marL="0">
              <a:buNone/>
            </a:pPr>
            <a:r>
              <a:rPr lang="en-US" sz="1800" b="1" dirty="0">
                <a:solidFill>
                  <a:srgbClr val="111318"/>
                </a:solidFill>
              </a:rPr>
              <a:t>Platinum</a:t>
            </a:r>
            <a:endParaRPr lang="en-US" sz="1800" dirty="0"/>
          </a:p>
          <a:p>
            <a:pPr algn="ctr" indent="0" marL="0">
              <a:buNone/>
            </a:pPr>
            <a:r>
              <a:rPr lang="en-US" sz="1400" dirty="0">
                <a:solidFill>
                  <a:srgbClr val="111318"/>
                </a:solidFill>
              </a:rPr>
              <a:t>25+ endorsements</a:t>
            </a:r>
            <a:endParaRPr lang="en-US" sz="1800" dirty="0"/>
          </a:p>
        </p:txBody>
      </p:sp>
      <p:sp>
        <p:nvSpPr>
          <p:cNvPr id="12" name="Tier block Legend"/>
          <p:cNvSpPr/>
          <p:nvPr/>
        </p:nvSpPr>
        <p:spPr>
          <a:xfrm>
            <a:off x="6949440" y="2011680"/>
            <a:ext cx="1463040" cy="2468880"/>
          </a:xfrm>
          <a:prstGeom prst="roundRect">
            <a:avLst>
              <a:gd name="adj" fmla="val 6250"/>
            </a:avLst>
          </a:prstGeom>
          <a:solidFill>
            <a:srgbClr val="A88CFF"/>
          </a:solidFill>
          <a:ln/>
          <a:effectLst>
            <a:outerShdw sx="100000" sy="100000" kx="0" ky="0" algn="bl" rotWithShape="0" blurRad="76200" dist="25400" dir="5400000">
              <a:srgbClr val="000000">
                <a:alpha val="35000"/>
              </a:srgbClr>
            </a:outerShdw>
          </a:effectLst>
        </p:spPr>
      </p:sp>
      <p:sp>
        <p:nvSpPr>
          <p:cNvPr id="13" name="Tier label Legend"/>
          <p:cNvSpPr txBox="1"/>
          <p:nvPr/>
        </p:nvSpPr>
        <p:spPr>
          <a:xfrm>
            <a:off x="6949440" y="2084832"/>
            <a:ext cx="1463040" cy="685800"/>
          </a:xfrm>
          <a:prstGeom prst="rect">
            <a:avLst/>
          </a:prstGeom>
          <a:noFill/>
          <a:ln/>
        </p:spPr>
        <p:txBody>
          <a:bodyPr wrap="square" lIns="635" tIns="635" rIns="635" bIns="635" rtlCol="0" anchor="t"/>
          <a:lstStyle/>
          <a:p>
            <a:pPr algn="ctr" indent="0" marL="0">
              <a:buNone/>
            </a:pPr>
            <a:r>
              <a:rPr lang="en-US" sz="1800" b="1" dirty="0">
                <a:solidFill>
                  <a:srgbClr val="111318"/>
                </a:solidFill>
              </a:rPr>
              <a:t>Legend</a:t>
            </a:r>
            <a:endParaRPr lang="en-US" sz="1800" dirty="0"/>
          </a:p>
          <a:p>
            <a:pPr algn="ctr" indent="0" marL="0">
              <a:buNone/>
            </a:pPr>
            <a:r>
              <a:rPr lang="en-US" sz="1400" dirty="0">
                <a:solidFill>
                  <a:srgbClr val="111318"/>
                </a:solidFill>
              </a:rPr>
              <a:t>50+ endorsements</a:t>
            </a:r>
            <a:endParaRPr lang="en-US" sz="18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7406640" cy="731520"/>
          </a:xfrm>
          <a:prstGeom prst="rect">
            <a:avLst/>
          </a:prstGeom>
          <a:noFill/>
          <a:ln/>
        </p:spPr>
        <p:txBody>
          <a:bodyPr wrap="square" lIns="0" tIns="0" rIns="0" bIns="0" rtlCol="0" anchor="ctr"/>
          <a:lstStyle/>
          <a:p>
            <a:pPr algn="l" indent="0" marL="0">
              <a:buNone/>
            </a:pPr>
            <a:r>
              <a:rPr lang="en-US" sz="3600" b="1" dirty="0">
                <a:solidFill>
                  <a:schemeClr val="bg1"/>
                </a:solidFill>
              </a:rPr>
              <a:t>A user's journey</a:t>
            </a:r>
            <a:endParaRPr lang="en-US" sz="3600" dirty="0"/>
          </a:p>
        </p:txBody>
      </p:sp>
      <p:sp>
        <p:nvSpPr>
          <p:cNvPr id="3" name="Journey line"/>
          <p:cNvSpPr/>
          <p:nvPr/>
        </p:nvSpPr>
        <p:spPr>
          <a:xfrm>
            <a:off x="1280160" y="1965960"/>
            <a:ext cx="6583680" cy="0"/>
          </a:xfrm>
          <a:prstGeom prst="line">
            <a:avLst/>
          </a:prstGeom>
          <a:noFill/>
          <a:ln w="25400">
            <a:solidFill>
              <a:schemeClr val="accent5"/>
            </a:solidFill>
            <a:prstDash val="solid"/>
          </a:ln>
        </p:spPr>
      </p:sp>
      <p:sp>
        <p:nvSpPr>
          <p:cNvPr id="4" name="Journey circle 1"/>
          <p:cNvSpPr/>
          <p:nvPr/>
        </p:nvSpPr>
        <p:spPr>
          <a:xfrm>
            <a:off x="960120" y="1645920"/>
            <a:ext cx="640080" cy="640080"/>
          </a:xfrm>
          <a:prstGeom prst="ellipse">
            <a:avLst/>
          </a:prstGeom>
          <a:solidFill>
            <a:schemeClr val="accent1"/>
          </a:solidFill>
          <a:ln/>
        </p:spPr>
      </p:sp>
      <p:sp>
        <p:nvSpPr>
          <p:cNvPr id="5" name="Journey number 1"/>
          <p:cNvSpPr txBox="1"/>
          <p:nvPr/>
        </p:nvSpPr>
        <p:spPr>
          <a:xfrm>
            <a:off x="960120" y="164592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1</a:t>
            </a:r>
            <a:endParaRPr lang="en-US" sz="2400" dirty="0"/>
          </a:p>
        </p:txBody>
      </p:sp>
      <p:sp>
        <p:nvSpPr>
          <p:cNvPr id="6" name="Journey card 1"/>
          <p:cNvSpPr/>
          <p:nvPr/>
        </p:nvSpPr>
        <p:spPr>
          <a:xfrm>
            <a:off x="548640" y="2514600"/>
            <a:ext cx="1463040" cy="1554480"/>
          </a:xfrm>
          <a:prstGeom prst="roundRect">
            <a:avLst>
              <a:gd name="adj" fmla="val 7500"/>
            </a:avLst>
          </a:prstGeom>
          <a:solidFill>
            <a:schemeClr val="tx2"/>
          </a:solidFill>
          <a:ln/>
          <a:effectLst>
            <a:outerShdw sx="100000" sy="100000" kx="0" ky="0" algn="bl" rotWithShape="0" blurRad="76200" dist="25400" dir="5400000">
              <a:srgbClr val="000000">
                <a:alpha val="35000"/>
              </a:srgbClr>
            </a:outerShdw>
          </a:effectLst>
        </p:spPr>
      </p:sp>
      <p:sp>
        <p:nvSpPr>
          <p:cNvPr id="7" name="Journey title 1"/>
          <p:cNvSpPr txBox="1"/>
          <p:nvPr/>
        </p:nvSpPr>
        <p:spPr>
          <a:xfrm>
            <a:off x="658368" y="2651760"/>
            <a:ext cx="1243584" cy="411480"/>
          </a:xfrm>
          <a:prstGeom prst="rect">
            <a:avLst/>
          </a:prstGeom>
          <a:noFill/>
          <a:ln/>
        </p:spPr>
        <p:txBody>
          <a:bodyPr wrap="square" lIns="0" tIns="0" rIns="0" bIns="0" rtlCol="0" anchor="ctr"/>
          <a:lstStyle/>
          <a:p>
            <a:pPr indent="0" marL="0">
              <a:buNone/>
            </a:pPr>
            <a:r>
              <a:rPr lang="en-US" sz="1800" b="1" dirty="0">
                <a:solidFill>
                  <a:schemeClr val="bg1"/>
                </a:solidFill>
              </a:rPr>
              <a:t>Sign up</a:t>
            </a:r>
            <a:endParaRPr lang="en-US" sz="1800" dirty="0"/>
          </a:p>
        </p:txBody>
      </p:sp>
      <p:sp>
        <p:nvSpPr>
          <p:cNvPr id="8" name="Journey text 1"/>
          <p:cNvSpPr txBox="1"/>
          <p:nvPr/>
        </p:nvSpPr>
        <p:spPr>
          <a:xfrm>
            <a:off x="658368" y="3108960"/>
            <a:ext cx="1243584" cy="822960"/>
          </a:xfrm>
          <a:prstGeom prst="rect">
            <a:avLst/>
          </a:prstGeom>
          <a:noFill/>
          <a:ln/>
        </p:spPr>
        <p:txBody>
          <a:bodyPr wrap="square" lIns="0" tIns="0" rIns="0" bIns="0" rtlCol="0" anchor="t"/>
          <a:lstStyle/>
          <a:p>
            <a:pPr indent="0" marL="0">
              <a:buNone/>
            </a:pPr>
            <a:r>
              <a:rPr lang="en-US" sz="1400" dirty="0">
                <a:solidFill>
                  <a:schemeClr val="bg2"/>
                </a:solidFill>
              </a:rPr>
              <a:t>Email or phone, then a tick</a:t>
            </a:r>
            <a:endParaRPr lang="en-US" sz="1400" dirty="0"/>
          </a:p>
        </p:txBody>
      </p:sp>
      <p:sp>
        <p:nvSpPr>
          <p:cNvPr id="9" name="Journey circle 2"/>
          <p:cNvSpPr/>
          <p:nvPr/>
        </p:nvSpPr>
        <p:spPr>
          <a:xfrm>
            <a:off x="2606040" y="1645920"/>
            <a:ext cx="640080" cy="640080"/>
          </a:xfrm>
          <a:prstGeom prst="ellipse">
            <a:avLst/>
          </a:prstGeom>
          <a:solidFill>
            <a:schemeClr val="accent1"/>
          </a:solidFill>
          <a:ln/>
        </p:spPr>
      </p:sp>
      <p:sp>
        <p:nvSpPr>
          <p:cNvPr id="10" name="Journey number 2"/>
          <p:cNvSpPr txBox="1"/>
          <p:nvPr/>
        </p:nvSpPr>
        <p:spPr>
          <a:xfrm>
            <a:off x="2606040" y="164592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11" name="Journey card 2"/>
          <p:cNvSpPr/>
          <p:nvPr/>
        </p:nvSpPr>
        <p:spPr>
          <a:xfrm>
            <a:off x="2194560" y="2514600"/>
            <a:ext cx="1463040" cy="1554480"/>
          </a:xfrm>
          <a:prstGeom prst="roundRect">
            <a:avLst>
              <a:gd name="adj" fmla="val 7500"/>
            </a:avLst>
          </a:prstGeom>
          <a:solidFill>
            <a:schemeClr val="tx2"/>
          </a:solidFill>
          <a:ln/>
          <a:effectLst>
            <a:outerShdw sx="100000" sy="100000" kx="0" ky="0" algn="bl" rotWithShape="0" blurRad="76200" dist="25400" dir="5400000">
              <a:srgbClr val="000000">
                <a:alpha val="35000"/>
              </a:srgbClr>
            </a:outerShdw>
          </a:effectLst>
        </p:spPr>
      </p:sp>
      <p:sp>
        <p:nvSpPr>
          <p:cNvPr id="12" name="Journey title 2"/>
          <p:cNvSpPr txBox="1"/>
          <p:nvPr/>
        </p:nvSpPr>
        <p:spPr>
          <a:xfrm>
            <a:off x="2304288" y="2651760"/>
            <a:ext cx="1243584" cy="411480"/>
          </a:xfrm>
          <a:prstGeom prst="rect">
            <a:avLst/>
          </a:prstGeom>
          <a:noFill/>
          <a:ln/>
        </p:spPr>
        <p:txBody>
          <a:bodyPr wrap="square" lIns="0" tIns="0" rIns="0" bIns="0" rtlCol="0" anchor="ctr"/>
          <a:lstStyle/>
          <a:p>
            <a:pPr indent="0" marL="0">
              <a:buNone/>
            </a:pPr>
            <a:r>
              <a:rPr lang="en-US" sz="1800" b="1" dirty="0">
                <a:solidFill>
                  <a:schemeClr val="bg1"/>
                </a:solidFill>
              </a:rPr>
              <a:t>Log in</a:t>
            </a:r>
            <a:endParaRPr lang="en-US" sz="1800" dirty="0"/>
          </a:p>
        </p:txBody>
      </p:sp>
      <p:sp>
        <p:nvSpPr>
          <p:cNvPr id="13" name="Journey text 2"/>
          <p:cNvSpPr txBox="1"/>
          <p:nvPr/>
        </p:nvSpPr>
        <p:spPr>
          <a:xfrm>
            <a:off x="2304288" y="3108960"/>
            <a:ext cx="1243584" cy="822960"/>
          </a:xfrm>
          <a:prstGeom prst="rect">
            <a:avLst/>
          </a:prstGeom>
          <a:noFill/>
          <a:ln/>
        </p:spPr>
        <p:txBody>
          <a:bodyPr wrap="square" lIns="0" tIns="0" rIns="0" bIns="0" rtlCol="0" anchor="t"/>
          <a:lstStyle/>
          <a:p>
            <a:pPr indent="0" marL="0">
              <a:buNone/>
            </a:pPr>
            <a:r>
              <a:rPr lang="en-US" sz="1400" dirty="0">
                <a:solidFill>
                  <a:schemeClr val="bg2"/>
                </a:solidFill>
              </a:rPr>
              <a:t>Another tick, then you are in</a:t>
            </a:r>
            <a:endParaRPr lang="en-US" sz="1400" dirty="0"/>
          </a:p>
        </p:txBody>
      </p:sp>
      <p:sp>
        <p:nvSpPr>
          <p:cNvPr id="14" name="Journey circle 3"/>
          <p:cNvSpPr/>
          <p:nvPr/>
        </p:nvSpPr>
        <p:spPr>
          <a:xfrm>
            <a:off x="4251960" y="1645920"/>
            <a:ext cx="640080" cy="640080"/>
          </a:xfrm>
          <a:prstGeom prst="ellipse">
            <a:avLst/>
          </a:prstGeom>
          <a:solidFill>
            <a:schemeClr val="accent1"/>
          </a:solidFill>
          <a:ln/>
        </p:spPr>
      </p:sp>
      <p:sp>
        <p:nvSpPr>
          <p:cNvPr id="15" name="Journey number 3"/>
          <p:cNvSpPr txBox="1"/>
          <p:nvPr/>
        </p:nvSpPr>
        <p:spPr>
          <a:xfrm>
            <a:off x="4251960" y="164592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3</a:t>
            </a:r>
            <a:endParaRPr lang="en-US" sz="2400" dirty="0"/>
          </a:p>
        </p:txBody>
      </p:sp>
      <p:sp>
        <p:nvSpPr>
          <p:cNvPr id="16" name="Journey card 3"/>
          <p:cNvSpPr/>
          <p:nvPr/>
        </p:nvSpPr>
        <p:spPr>
          <a:xfrm>
            <a:off x="3840480" y="2514600"/>
            <a:ext cx="1463040" cy="1554480"/>
          </a:xfrm>
          <a:prstGeom prst="roundRect">
            <a:avLst>
              <a:gd name="adj" fmla="val 7500"/>
            </a:avLst>
          </a:prstGeom>
          <a:solidFill>
            <a:schemeClr val="tx2"/>
          </a:solidFill>
          <a:ln/>
          <a:effectLst>
            <a:outerShdw sx="100000" sy="100000" kx="0" ky="0" algn="bl" rotWithShape="0" blurRad="76200" dist="25400" dir="5400000">
              <a:srgbClr val="000000">
                <a:alpha val="35000"/>
              </a:srgbClr>
            </a:outerShdw>
          </a:effectLst>
        </p:spPr>
      </p:sp>
      <p:sp>
        <p:nvSpPr>
          <p:cNvPr id="17" name="Journey title 3"/>
          <p:cNvSpPr txBox="1"/>
          <p:nvPr/>
        </p:nvSpPr>
        <p:spPr>
          <a:xfrm>
            <a:off x="3950208" y="2651760"/>
            <a:ext cx="1243584" cy="411480"/>
          </a:xfrm>
          <a:prstGeom prst="rect">
            <a:avLst/>
          </a:prstGeom>
          <a:noFill/>
          <a:ln/>
        </p:spPr>
        <p:txBody>
          <a:bodyPr wrap="square" lIns="0" tIns="0" rIns="0" bIns="0" rtlCol="0" anchor="ctr"/>
          <a:lstStyle/>
          <a:p>
            <a:pPr indent="0" marL="0">
              <a:buNone/>
            </a:pPr>
            <a:r>
              <a:rPr lang="en-US" sz="1800" b="1" dirty="0">
                <a:solidFill>
                  <a:schemeClr val="bg1"/>
                </a:solidFill>
              </a:rPr>
              <a:t>Explore</a:t>
            </a:r>
            <a:endParaRPr lang="en-US" sz="1800" dirty="0"/>
          </a:p>
        </p:txBody>
      </p:sp>
      <p:sp>
        <p:nvSpPr>
          <p:cNvPr id="18" name="Journey text 3"/>
          <p:cNvSpPr txBox="1"/>
          <p:nvPr/>
        </p:nvSpPr>
        <p:spPr>
          <a:xfrm>
            <a:off x="3950208" y="3108960"/>
            <a:ext cx="1243584" cy="822960"/>
          </a:xfrm>
          <a:prstGeom prst="rect">
            <a:avLst/>
          </a:prstGeom>
          <a:noFill/>
          <a:ln/>
        </p:spPr>
        <p:txBody>
          <a:bodyPr wrap="square" lIns="0" tIns="0" rIns="0" bIns="0" rtlCol="0" anchor="t"/>
          <a:lstStyle/>
          <a:p>
            <a:pPr indent="0" marL="0">
              <a:buNone/>
            </a:pPr>
            <a:r>
              <a:rPr lang="en-US" sz="1400" dirty="0">
                <a:solidFill>
                  <a:schemeClr val="bg2"/>
                </a:solidFill>
              </a:rPr>
              <a:t>Search people, browse the grid</a:t>
            </a:r>
            <a:endParaRPr lang="en-US" sz="1400" dirty="0"/>
          </a:p>
        </p:txBody>
      </p:sp>
      <p:sp>
        <p:nvSpPr>
          <p:cNvPr id="19" name="Journey circle 4"/>
          <p:cNvSpPr/>
          <p:nvPr/>
        </p:nvSpPr>
        <p:spPr>
          <a:xfrm>
            <a:off x="5897880" y="1645920"/>
            <a:ext cx="640080" cy="640080"/>
          </a:xfrm>
          <a:prstGeom prst="ellipse">
            <a:avLst/>
          </a:prstGeom>
          <a:solidFill>
            <a:schemeClr val="accent1"/>
          </a:solidFill>
          <a:ln/>
        </p:spPr>
      </p:sp>
      <p:sp>
        <p:nvSpPr>
          <p:cNvPr id="20" name="Journey number 4"/>
          <p:cNvSpPr txBox="1"/>
          <p:nvPr/>
        </p:nvSpPr>
        <p:spPr>
          <a:xfrm>
            <a:off x="5897880" y="164592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4</a:t>
            </a:r>
            <a:endParaRPr lang="en-US" sz="2400" dirty="0"/>
          </a:p>
        </p:txBody>
      </p:sp>
      <p:sp>
        <p:nvSpPr>
          <p:cNvPr id="21" name="Journey card 4"/>
          <p:cNvSpPr/>
          <p:nvPr/>
        </p:nvSpPr>
        <p:spPr>
          <a:xfrm>
            <a:off x="5486400" y="2514600"/>
            <a:ext cx="1463040" cy="1554480"/>
          </a:xfrm>
          <a:prstGeom prst="roundRect">
            <a:avLst>
              <a:gd name="adj" fmla="val 7500"/>
            </a:avLst>
          </a:prstGeom>
          <a:solidFill>
            <a:schemeClr val="tx2"/>
          </a:solidFill>
          <a:ln/>
          <a:effectLst>
            <a:outerShdw sx="100000" sy="100000" kx="0" ky="0" algn="bl" rotWithShape="0" blurRad="76200" dist="25400" dir="5400000">
              <a:srgbClr val="000000">
                <a:alpha val="35000"/>
              </a:srgbClr>
            </a:outerShdw>
          </a:effectLst>
        </p:spPr>
      </p:sp>
      <p:sp>
        <p:nvSpPr>
          <p:cNvPr id="22" name="Journey title 4"/>
          <p:cNvSpPr txBox="1"/>
          <p:nvPr/>
        </p:nvSpPr>
        <p:spPr>
          <a:xfrm>
            <a:off x="5596128" y="2651760"/>
            <a:ext cx="1243584" cy="411480"/>
          </a:xfrm>
          <a:prstGeom prst="rect">
            <a:avLst/>
          </a:prstGeom>
          <a:noFill/>
          <a:ln/>
        </p:spPr>
        <p:txBody>
          <a:bodyPr wrap="square" lIns="0" tIns="0" rIns="0" bIns="0" rtlCol="0" anchor="ctr"/>
          <a:lstStyle/>
          <a:p>
            <a:pPr indent="0" marL="0">
              <a:buNone/>
            </a:pPr>
            <a:r>
              <a:rPr lang="en-US" sz="1800" b="1" dirty="0">
                <a:solidFill>
                  <a:schemeClr val="bg1"/>
                </a:solidFill>
              </a:rPr>
              <a:t>Post</a:t>
            </a:r>
            <a:endParaRPr lang="en-US" sz="1800" dirty="0"/>
          </a:p>
        </p:txBody>
      </p:sp>
      <p:sp>
        <p:nvSpPr>
          <p:cNvPr id="23" name="Journey text 4"/>
          <p:cNvSpPr txBox="1"/>
          <p:nvPr/>
        </p:nvSpPr>
        <p:spPr>
          <a:xfrm>
            <a:off x="5596128" y="3108960"/>
            <a:ext cx="1243584" cy="822960"/>
          </a:xfrm>
          <a:prstGeom prst="rect">
            <a:avLst/>
          </a:prstGeom>
          <a:noFill/>
          <a:ln/>
        </p:spPr>
        <p:txBody>
          <a:bodyPr wrap="square" lIns="0" tIns="0" rIns="0" bIns="0" rtlCol="0" anchor="t"/>
          <a:lstStyle/>
          <a:p>
            <a:pPr indent="0" marL="0">
              <a:buNone/>
            </a:pPr>
            <a:r>
              <a:rPr lang="en-US" sz="1400" dirty="0">
                <a:solidFill>
                  <a:schemeClr val="bg2"/>
                </a:solidFill>
              </a:rPr>
              <a:t>Add a photo or video</a:t>
            </a:r>
            <a:endParaRPr lang="en-US" sz="1400" dirty="0"/>
          </a:p>
        </p:txBody>
      </p:sp>
      <p:sp>
        <p:nvSpPr>
          <p:cNvPr id="24" name="Journey circle 5"/>
          <p:cNvSpPr/>
          <p:nvPr/>
        </p:nvSpPr>
        <p:spPr>
          <a:xfrm>
            <a:off x="7543800" y="1645920"/>
            <a:ext cx="640080" cy="640080"/>
          </a:xfrm>
          <a:prstGeom prst="ellipse">
            <a:avLst/>
          </a:prstGeom>
          <a:solidFill>
            <a:schemeClr val="accent1"/>
          </a:solidFill>
          <a:ln/>
        </p:spPr>
      </p:sp>
      <p:sp>
        <p:nvSpPr>
          <p:cNvPr id="25" name="Journey number 5"/>
          <p:cNvSpPr txBox="1"/>
          <p:nvPr/>
        </p:nvSpPr>
        <p:spPr>
          <a:xfrm>
            <a:off x="7543800" y="164592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5</a:t>
            </a:r>
            <a:endParaRPr lang="en-US" sz="2400" dirty="0"/>
          </a:p>
        </p:txBody>
      </p:sp>
      <p:sp>
        <p:nvSpPr>
          <p:cNvPr id="26" name="Journey card 5"/>
          <p:cNvSpPr/>
          <p:nvPr/>
        </p:nvSpPr>
        <p:spPr>
          <a:xfrm>
            <a:off x="7132320" y="2514600"/>
            <a:ext cx="1463040" cy="1554480"/>
          </a:xfrm>
          <a:prstGeom prst="roundRect">
            <a:avLst>
              <a:gd name="adj" fmla="val 7500"/>
            </a:avLst>
          </a:prstGeom>
          <a:solidFill>
            <a:schemeClr val="tx2"/>
          </a:solidFill>
          <a:ln/>
          <a:effectLst>
            <a:outerShdw sx="100000" sy="100000" kx="0" ky="0" algn="bl" rotWithShape="0" blurRad="76200" dist="25400" dir="5400000">
              <a:srgbClr val="000000">
                <a:alpha val="35000"/>
              </a:srgbClr>
            </a:outerShdw>
          </a:effectLst>
        </p:spPr>
      </p:sp>
      <p:sp>
        <p:nvSpPr>
          <p:cNvPr id="27" name="Journey title 5"/>
          <p:cNvSpPr txBox="1"/>
          <p:nvPr/>
        </p:nvSpPr>
        <p:spPr>
          <a:xfrm>
            <a:off x="7242048" y="2651760"/>
            <a:ext cx="1243584" cy="411480"/>
          </a:xfrm>
          <a:prstGeom prst="rect">
            <a:avLst/>
          </a:prstGeom>
          <a:noFill/>
          <a:ln/>
        </p:spPr>
        <p:txBody>
          <a:bodyPr wrap="square" lIns="0" tIns="0" rIns="0" bIns="0" rtlCol="0" anchor="ctr"/>
          <a:lstStyle/>
          <a:p>
            <a:pPr indent="0" marL="0">
              <a:buNone/>
            </a:pPr>
            <a:r>
              <a:rPr lang="en-US" sz="1800" b="1" dirty="0">
                <a:solidFill>
                  <a:schemeClr val="bg1"/>
                </a:solidFill>
              </a:rPr>
              <a:t>Endorsed</a:t>
            </a:r>
            <a:endParaRPr lang="en-US" sz="1800" dirty="0"/>
          </a:p>
        </p:txBody>
      </p:sp>
      <p:sp>
        <p:nvSpPr>
          <p:cNvPr id="28" name="Journey text 5"/>
          <p:cNvSpPr txBox="1"/>
          <p:nvPr/>
        </p:nvSpPr>
        <p:spPr>
          <a:xfrm>
            <a:off x="7242048" y="3108960"/>
            <a:ext cx="1243584" cy="822960"/>
          </a:xfrm>
          <a:prstGeom prst="rect">
            <a:avLst/>
          </a:prstGeom>
          <a:noFill/>
          <a:ln/>
        </p:spPr>
        <p:txBody>
          <a:bodyPr wrap="square" lIns="0" tIns="0" rIns="0" bIns="0" rtlCol="0" anchor="t"/>
          <a:lstStyle/>
          <a:p>
            <a:pPr indent="0" marL="0">
              <a:buNone/>
            </a:pPr>
            <a:r>
              <a:rPr lang="en-US" sz="1400" dirty="0">
                <a:solidFill>
                  <a:schemeClr val="bg2"/>
                </a:solidFill>
              </a:rPr>
              <a:t>Climb to the next tier</a:t>
            </a:r>
            <a:endParaRPr lang="en-US" sz="14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7406640" cy="731520"/>
          </a:xfrm>
          <a:prstGeom prst="rect">
            <a:avLst/>
          </a:prstGeom>
          <a:noFill/>
          <a:ln/>
        </p:spPr>
        <p:txBody>
          <a:bodyPr wrap="square" lIns="0" tIns="0" rIns="0" bIns="0" rtlCol="0" anchor="ctr"/>
          <a:lstStyle/>
          <a:p>
            <a:pPr algn="l" indent="0" marL="0">
              <a:buNone/>
            </a:pPr>
            <a:r>
              <a:rPr lang="en-US" sz="3600" b="1" dirty="0">
                <a:solidFill>
                  <a:schemeClr val="bg1"/>
                </a:solidFill>
              </a:rPr>
              <a:t>Built with core web tech</a:t>
            </a:r>
            <a:endParaRPr lang="en-US" sz="3600" dirty="0"/>
          </a:p>
        </p:txBody>
      </p:sp>
      <p:sp>
        <p:nvSpPr>
          <p:cNvPr id="3" name="Tech card HTML"/>
          <p:cNvSpPr/>
          <p:nvPr/>
        </p:nvSpPr>
        <p:spPr>
          <a:xfrm>
            <a:off x="548640" y="1325880"/>
            <a:ext cx="2529840" cy="2697480"/>
          </a:xfrm>
          <a:prstGeom prst="roundRect">
            <a:avLst>
              <a:gd name="adj" fmla="val 4337"/>
            </a:avLst>
          </a:prstGeom>
          <a:solidFill>
            <a:schemeClr val="tx2"/>
          </a:solidFill>
          <a:ln/>
          <a:effectLst>
            <a:outerShdw sx="100000" sy="100000" kx="0" ky="0" algn="bl" rotWithShape="0" blurRad="76200" dist="25400" dir="5400000">
              <a:srgbClr val="000000">
                <a:alpha val="35000"/>
              </a:srgbClr>
            </a:outerShdw>
          </a:effectLst>
        </p:spPr>
      </p:sp>
      <p:sp>
        <p:nvSpPr>
          <p:cNvPr id="4" name="HTML circle"/>
          <p:cNvSpPr/>
          <p:nvPr/>
        </p:nvSpPr>
        <p:spPr>
          <a:xfrm>
            <a:off x="777240" y="1508760"/>
            <a:ext cx="548640" cy="548640"/>
          </a:xfrm>
          <a:prstGeom prst="ellipse">
            <a:avLst/>
          </a:prstGeom>
          <a:solidFill>
            <a:schemeClr val="accent1"/>
          </a:solidFill>
          <a:ln/>
        </p:spPr>
      </p:sp>
      <p:pic>
        <p:nvPicPr>
          <p:cNvPr id="5" name="HTML icon" descr="HTML">    </p:cNvPr>
          <p:cNvPicPr>
            <a:picLocks noChangeAspect="1"/>
          </p:cNvPicPr>
          <p:nvPr/>
        </p:nvPicPr>
        <p:blipFill>
          <a:blip r:embed="rId1"/>
          <a:stretch>
            <a:fillRect/>
          </a:stretch>
        </p:blipFill>
        <p:spPr>
          <a:xfrm>
            <a:off x="914400" y="1645920"/>
            <a:ext cx="274320" cy="274320"/>
          </a:xfrm>
          <a:prstGeom prst="rect">
            <a:avLst/>
          </a:prstGeom>
        </p:spPr>
      </p:pic>
      <p:sp>
        <p:nvSpPr>
          <p:cNvPr id="6" name="Tech title HTML"/>
          <p:cNvSpPr txBox="1"/>
          <p:nvPr/>
        </p:nvSpPr>
        <p:spPr>
          <a:xfrm>
            <a:off x="1463040" y="1508760"/>
            <a:ext cx="1432560" cy="548640"/>
          </a:xfrm>
          <a:prstGeom prst="rect">
            <a:avLst/>
          </a:prstGeom>
          <a:noFill/>
          <a:ln/>
        </p:spPr>
        <p:txBody>
          <a:bodyPr wrap="square" lIns="0" tIns="0" rIns="0" bIns="0" rtlCol="0" anchor="ctr"/>
          <a:lstStyle/>
          <a:p>
            <a:pPr indent="0" marL="0">
              <a:buNone/>
            </a:pPr>
            <a:r>
              <a:rPr lang="en-US" sz="2200" b="1" dirty="0">
                <a:solidFill>
                  <a:schemeClr val="bg1"/>
                </a:solidFill>
              </a:rPr>
              <a:t>HTML</a:t>
            </a:r>
            <a:endParaRPr lang="en-US" sz="2200" dirty="0"/>
          </a:p>
        </p:txBody>
      </p:sp>
      <p:sp>
        <p:nvSpPr>
          <p:cNvPr id="7" name="Tech points HTML"/>
          <p:cNvSpPr txBox="1"/>
          <p:nvPr/>
        </p:nvSpPr>
        <p:spPr>
          <a:xfrm>
            <a:off x="777240" y="2286000"/>
            <a:ext cx="207264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Semantic page structure</a:t>
            </a:r>
            <a:endParaRPr lang="en-US" sz="1400" dirty="0"/>
          </a:p>
          <a:p>
            <a:pPr marL="342900" indent="-342900">
              <a:spcAft>
                <a:spcPts val="800"/>
              </a:spcAft>
              <a:buSzPct val="100000"/>
              <a:buChar char="•"/>
            </a:pPr>
            <a:r>
              <a:rPr lang="en-US" sz="1400" dirty="0">
                <a:solidFill>
                  <a:schemeClr val="bg1"/>
                </a:solidFill>
              </a:rPr>
              <a:t>Forms, modals, media tags</a:t>
            </a:r>
            <a:endParaRPr lang="en-US" sz="1400" dirty="0"/>
          </a:p>
          <a:p>
            <a:pPr marL="342900" indent="-342900">
              <a:spcAft>
                <a:spcPts val="800"/>
              </a:spcAft>
              <a:buSzPct val="100000"/>
              <a:buChar char="•"/>
            </a:pPr>
            <a:r>
              <a:rPr lang="en-US" sz="1400" dirty="0">
                <a:solidFill>
                  <a:schemeClr val="bg1"/>
                </a:solidFill>
              </a:rPr>
              <a:t>Responsive markup</a:t>
            </a:r>
            <a:endParaRPr lang="en-US" sz="1400" dirty="0"/>
          </a:p>
        </p:txBody>
      </p:sp>
      <p:sp>
        <p:nvSpPr>
          <p:cNvPr id="8" name="Tech card CSS"/>
          <p:cNvSpPr/>
          <p:nvPr/>
        </p:nvSpPr>
        <p:spPr>
          <a:xfrm>
            <a:off x="3307080" y="1325880"/>
            <a:ext cx="2529840" cy="2697480"/>
          </a:xfrm>
          <a:prstGeom prst="roundRect">
            <a:avLst>
              <a:gd name="adj" fmla="val 4337"/>
            </a:avLst>
          </a:prstGeom>
          <a:solidFill>
            <a:schemeClr val="tx2"/>
          </a:solidFill>
          <a:ln/>
          <a:effectLst>
            <a:outerShdw sx="100000" sy="100000" kx="0" ky="0" algn="bl" rotWithShape="0" blurRad="76200" dist="25400" dir="5400000">
              <a:srgbClr val="000000">
                <a:alpha val="35000"/>
              </a:srgbClr>
            </a:outerShdw>
          </a:effectLst>
        </p:spPr>
      </p:sp>
      <p:sp>
        <p:nvSpPr>
          <p:cNvPr id="9" name="CSS circle"/>
          <p:cNvSpPr/>
          <p:nvPr/>
        </p:nvSpPr>
        <p:spPr>
          <a:xfrm>
            <a:off x="3535680" y="1508760"/>
            <a:ext cx="548640" cy="548640"/>
          </a:xfrm>
          <a:prstGeom prst="ellipse">
            <a:avLst/>
          </a:prstGeom>
          <a:solidFill>
            <a:schemeClr val="accent1"/>
          </a:solidFill>
          <a:ln/>
        </p:spPr>
      </p:sp>
      <p:pic>
        <p:nvPicPr>
          <p:cNvPr id="10" name="CSS icon" descr="CSS">    </p:cNvPr>
          <p:cNvPicPr>
            <a:picLocks noChangeAspect="1"/>
          </p:cNvPicPr>
          <p:nvPr/>
        </p:nvPicPr>
        <p:blipFill>
          <a:blip r:embed="rId2"/>
          <a:stretch>
            <a:fillRect/>
          </a:stretch>
        </p:blipFill>
        <p:spPr>
          <a:xfrm>
            <a:off x="3672840" y="1645920"/>
            <a:ext cx="274320" cy="274320"/>
          </a:xfrm>
          <a:prstGeom prst="rect">
            <a:avLst/>
          </a:prstGeom>
        </p:spPr>
      </p:pic>
      <p:sp>
        <p:nvSpPr>
          <p:cNvPr id="11" name="Tech title CSS"/>
          <p:cNvSpPr txBox="1"/>
          <p:nvPr/>
        </p:nvSpPr>
        <p:spPr>
          <a:xfrm>
            <a:off x="4221480" y="1508760"/>
            <a:ext cx="1432560" cy="548640"/>
          </a:xfrm>
          <a:prstGeom prst="rect">
            <a:avLst/>
          </a:prstGeom>
          <a:noFill/>
          <a:ln/>
        </p:spPr>
        <p:txBody>
          <a:bodyPr wrap="square" lIns="0" tIns="0" rIns="0" bIns="0" rtlCol="0" anchor="ctr"/>
          <a:lstStyle/>
          <a:p>
            <a:pPr indent="0" marL="0">
              <a:buNone/>
            </a:pPr>
            <a:r>
              <a:rPr lang="en-US" sz="2200" b="1" dirty="0">
                <a:solidFill>
                  <a:schemeClr val="bg1"/>
                </a:solidFill>
              </a:rPr>
              <a:t>CSS</a:t>
            </a:r>
            <a:endParaRPr lang="en-US" sz="2200" dirty="0"/>
          </a:p>
        </p:txBody>
      </p:sp>
      <p:sp>
        <p:nvSpPr>
          <p:cNvPr id="12" name="Tech points CSS"/>
          <p:cNvSpPr txBox="1"/>
          <p:nvPr/>
        </p:nvSpPr>
        <p:spPr>
          <a:xfrm>
            <a:off x="3535680" y="2286000"/>
            <a:ext cx="207264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Grid and Flexbox layouts</a:t>
            </a:r>
            <a:endParaRPr lang="en-US" sz="1400" dirty="0"/>
          </a:p>
          <a:p>
            <a:pPr marL="342900" indent="-342900">
              <a:spcAft>
                <a:spcPts val="800"/>
              </a:spcAft>
              <a:buSzPct val="100000"/>
              <a:buChar char="•"/>
            </a:pPr>
            <a:r>
              <a:rPr lang="en-US" sz="1400" dirty="0">
                <a:solidFill>
                  <a:schemeClr val="bg1"/>
                </a:solidFill>
              </a:rPr>
              <a:t>Theme variables, dark mode</a:t>
            </a:r>
            <a:endParaRPr lang="en-US" sz="1400" dirty="0"/>
          </a:p>
          <a:p>
            <a:pPr marL="342900" indent="-342900">
              <a:spcAft>
                <a:spcPts val="800"/>
              </a:spcAft>
              <a:buSzPct val="100000"/>
              <a:buChar char="•"/>
            </a:pPr>
            <a:r>
              <a:rPr lang="en-US" sz="1400" dirty="0">
                <a:solidFill>
                  <a:schemeClr val="bg1"/>
                </a:solidFill>
              </a:rPr>
              <a:t>Scroll-snap Reels feed</a:t>
            </a:r>
            <a:endParaRPr lang="en-US" sz="1400" dirty="0"/>
          </a:p>
        </p:txBody>
      </p:sp>
      <p:sp>
        <p:nvSpPr>
          <p:cNvPr id="13" name="Tech card JavaScript"/>
          <p:cNvSpPr/>
          <p:nvPr/>
        </p:nvSpPr>
        <p:spPr>
          <a:xfrm>
            <a:off x="6065520" y="1325880"/>
            <a:ext cx="2529840" cy="2697480"/>
          </a:xfrm>
          <a:prstGeom prst="roundRect">
            <a:avLst>
              <a:gd name="adj" fmla="val 4337"/>
            </a:avLst>
          </a:prstGeom>
          <a:solidFill>
            <a:schemeClr val="tx2"/>
          </a:solidFill>
          <a:ln/>
          <a:effectLst>
            <a:outerShdw sx="100000" sy="100000" kx="0" ky="0" algn="bl" rotWithShape="0" blurRad="76200" dist="25400" dir="5400000">
              <a:srgbClr val="000000">
                <a:alpha val="35000"/>
              </a:srgbClr>
            </a:outerShdw>
          </a:effectLst>
        </p:spPr>
      </p:sp>
      <p:sp>
        <p:nvSpPr>
          <p:cNvPr id="14" name="JavaScript circle"/>
          <p:cNvSpPr/>
          <p:nvPr/>
        </p:nvSpPr>
        <p:spPr>
          <a:xfrm>
            <a:off x="6294120" y="1508760"/>
            <a:ext cx="548640" cy="548640"/>
          </a:xfrm>
          <a:prstGeom prst="ellipse">
            <a:avLst/>
          </a:prstGeom>
          <a:solidFill>
            <a:schemeClr val="accent1"/>
          </a:solidFill>
          <a:ln/>
        </p:spPr>
      </p:sp>
      <p:pic>
        <p:nvPicPr>
          <p:cNvPr id="15" name="JavaScript icon" descr="JavaScript">    </p:cNvPr>
          <p:cNvPicPr>
            <a:picLocks noChangeAspect="1"/>
          </p:cNvPicPr>
          <p:nvPr/>
        </p:nvPicPr>
        <p:blipFill>
          <a:blip r:embed="rId3"/>
          <a:stretch>
            <a:fillRect/>
          </a:stretch>
        </p:blipFill>
        <p:spPr>
          <a:xfrm>
            <a:off x="6431280" y="1645920"/>
            <a:ext cx="274320" cy="274320"/>
          </a:xfrm>
          <a:prstGeom prst="rect">
            <a:avLst/>
          </a:prstGeom>
        </p:spPr>
      </p:pic>
      <p:sp>
        <p:nvSpPr>
          <p:cNvPr id="16" name="Tech title JavaScript"/>
          <p:cNvSpPr txBox="1"/>
          <p:nvPr/>
        </p:nvSpPr>
        <p:spPr>
          <a:xfrm>
            <a:off x="6979920" y="1508760"/>
            <a:ext cx="1432560" cy="548640"/>
          </a:xfrm>
          <a:prstGeom prst="rect">
            <a:avLst/>
          </a:prstGeom>
          <a:noFill/>
          <a:ln/>
        </p:spPr>
        <p:txBody>
          <a:bodyPr wrap="square" lIns="0" tIns="0" rIns="0" bIns="0" rtlCol="0" anchor="ctr"/>
          <a:lstStyle/>
          <a:p>
            <a:pPr indent="0" marL="0">
              <a:buNone/>
            </a:pPr>
            <a:r>
              <a:rPr lang="en-US" sz="2200" b="1" dirty="0">
                <a:solidFill>
                  <a:schemeClr val="bg1"/>
                </a:solidFill>
              </a:rPr>
              <a:t>JavaScript</a:t>
            </a:r>
            <a:endParaRPr lang="en-US" sz="2200" dirty="0"/>
          </a:p>
        </p:txBody>
      </p:sp>
      <p:sp>
        <p:nvSpPr>
          <p:cNvPr id="17" name="Tech points JavaScript"/>
          <p:cNvSpPr txBox="1"/>
          <p:nvPr/>
        </p:nvSpPr>
        <p:spPr>
          <a:xfrm>
            <a:off x="6294120" y="2286000"/>
            <a:ext cx="207264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DOM and event handling</a:t>
            </a:r>
            <a:endParaRPr lang="en-US" sz="1400" dirty="0"/>
          </a:p>
          <a:p>
            <a:pPr marL="342900" indent="-342900">
              <a:spcAft>
                <a:spcPts val="800"/>
              </a:spcAft>
              <a:buSzPct val="100000"/>
              <a:buChar char="•"/>
            </a:pPr>
            <a:r>
              <a:rPr lang="en-US" sz="1400" dirty="0">
                <a:solidFill>
                  <a:schemeClr val="bg1"/>
                </a:solidFill>
              </a:rPr>
              <a:t>localStorage persistence</a:t>
            </a:r>
            <a:endParaRPr lang="en-US" sz="1400" dirty="0"/>
          </a:p>
          <a:p>
            <a:pPr marL="342900" indent="-342900">
              <a:spcAft>
                <a:spcPts val="800"/>
              </a:spcAft>
              <a:buSzPct val="100000"/>
              <a:buChar char="•"/>
            </a:pPr>
            <a:r>
              <a:rPr lang="en-US" sz="1400" dirty="0">
                <a:solidFill>
                  <a:schemeClr val="bg1"/>
                </a:solidFill>
              </a:rPr>
              <a:t>FileReader media upload</a:t>
            </a:r>
            <a:endParaRPr lang="en-US" sz="1400" dirty="0"/>
          </a:p>
        </p:txBody>
      </p:sp>
      <p:sp>
        <p:nvSpPr>
          <p:cNvPr id="18" name="Tech takeaway"/>
          <p:cNvSpPr txBox="1"/>
          <p:nvPr/>
        </p:nvSpPr>
        <p:spPr>
          <a:xfrm>
            <a:off x="548640" y="4160520"/>
            <a:ext cx="8046720" cy="365760"/>
          </a:xfrm>
          <a:prstGeom prst="rect">
            <a:avLst/>
          </a:prstGeom>
          <a:noFill/>
          <a:ln/>
        </p:spPr>
        <p:txBody>
          <a:bodyPr wrap="square" lIns="0" tIns="0" rIns="0" bIns="0" rtlCol="0" anchor="ctr"/>
          <a:lstStyle/>
          <a:p>
            <a:pPr indent="0" marL="0">
              <a:buNone/>
            </a:pPr>
            <a:r>
              <a:rPr lang="en-US" sz="1600" i="1" dirty="0">
                <a:solidFill>
                  <a:schemeClr val="bg2"/>
                </a:solidFill>
              </a:rPr>
              <a:t>No frameworks. Everything is written in vanilla HTML, CSS and JavaScript.</a:t>
            </a:r>
            <a:endParaRPr lang="en-US" sz="16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7406640" cy="731520"/>
          </a:xfrm>
          <a:prstGeom prst="rect">
            <a:avLst/>
          </a:prstGeom>
          <a:noFill/>
          <a:ln/>
        </p:spPr>
        <p:txBody>
          <a:bodyPr wrap="square" lIns="0" tIns="0" rIns="0" bIns="0" rtlCol="0" anchor="ctr"/>
          <a:lstStyle/>
          <a:p>
            <a:pPr algn="l" indent="0" marL="0">
              <a:buNone/>
            </a:pPr>
            <a:r>
              <a:rPr lang="en-US" sz="3600" b="1" dirty="0">
                <a:solidFill>
                  <a:schemeClr val="bg1"/>
                </a:solidFill>
              </a:rPr>
              <a:t>What comes next</a:t>
            </a:r>
            <a:endParaRPr lang="en-US" sz="3600" dirty="0"/>
          </a:p>
        </p:txBody>
      </p:sp>
      <p:sp>
        <p:nvSpPr>
          <p:cNvPr id="3" name="Future row 1"/>
          <p:cNvSpPr/>
          <p:nvPr/>
        </p:nvSpPr>
        <p:spPr>
          <a:xfrm>
            <a:off x="548640" y="1280160"/>
            <a:ext cx="8046720" cy="713232"/>
          </a:xfrm>
          <a:prstGeom prst="roundRect">
            <a:avLst>
              <a:gd name="adj" fmla="val 15385"/>
            </a:avLst>
          </a:prstGeom>
          <a:solidFill>
            <a:schemeClr val="tx2"/>
          </a:solidFill>
          <a:ln/>
          <a:effectLst>
            <a:outerShdw sx="100000" sy="100000" kx="0" ky="0" algn="bl" rotWithShape="0" blurRad="76200" dist="25400" dir="5400000">
              <a:srgbClr val="000000">
                <a:alpha val="35000"/>
              </a:srgbClr>
            </a:outerShdw>
          </a:effectLst>
        </p:spPr>
      </p:sp>
      <p:sp>
        <p:nvSpPr>
          <p:cNvPr id="4" name="Real backend circle"/>
          <p:cNvSpPr/>
          <p:nvPr/>
        </p:nvSpPr>
        <p:spPr>
          <a:xfrm>
            <a:off x="731520" y="1389888"/>
            <a:ext cx="493776" cy="493776"/>
          </a:xfrm>
          <a:prstGeom prst="ellipse">
            <a:avLst/>
          </a:prstGeom>
          <a:solidFill>
            <a:schemeClr val="accent1"/>
          </a:solidFill>
          <a:ln/>
        </p:spPr>
      </p:sp>
      <p:pic>
        <p:nvPicPr>
          <p:cNvPr id="5" name="Real backend icon" descr="Real backend">    </p:cNvPr>
          <p:cNvPicPr>
            <a:picLocks noChangeAspect="1"/>
          </p:cNvPicPr>
          <p:nvPr/>
        </p:nvPicPr>
        <p:blipFill>
          <a:blip r:embed="rId1"/>
          <a:stretch>
            <a:fillRect/>
          </a:stretch>
        </p:blipFill>
        <p:spPr>
          <a:xfrm>
            <a:off x="854964" y="1513332"/>
            <a:ext cx="246888" cy="246888"/>
          </a:xfrm>
          <a:prstGeom prst="rect">
            <a:avLst/>
          </a:prstGeom>
        </p:spPr>
      </p:pic>
      <p:sp>
        <p:nvSpPr>
          <p:cNvPr id="6" name="Future title 1"/>
          <p:cNvSpPr txBox="1"/>
          <p:nvPr/>
        </p:nvSpPr>
        <p:spPr>
          <a:xfrm>
            <a:off x="1463040" y="1280160"/>
            <a:ext cx="2377440" cy="713232"/>
          </a:xfrm>
          <a:prstGeom prst="rect">
            <a:avLst/>
          </a:prstGeom>
          <a:noFill/>
          <a:ln/>
        </p:spPr>
        <p:txBody>
          <a:bodyPr wrap="square" lIns="0" tIns="0" rIns="0" bIns="0" rtlCol="0" anchor="ctr"/>
          <a:lstStyle/>
          <a:p>
            <a:pPr indent="0" marL="0">
              <a:buNone/>
            </a:pPr>
            <a:r>
              <a:rPr lang="en-US" sz="1800" b="1" dirty="0">
                <a:solidFill>
                  <a:schemeClr val="bg1"/>
                </a:solidFill>
              </a:rPr>
              <a:t>Real backend</a:t>
            </a:r>
            <a:endParaRPr lang="en-US" sz="1800" dirty="0"/>
          </a:p>
        </p:txBody>
      </p:sp>
      <p:sp>
        <p:nvSpPr>
          <p:cNvPr id="7" name="Future text 1"/>
          <p:cNvSpPr txBox="1"/>
          <p:nvPr/>
        </p:nvSpPr>
        <p:spPr>
          <a:xfrm>
            <a:off x="3931920" y="1280160"/>
            <a:ext cx="4480560" cy="713232"/>
          </a:xfrm>
          <a:prstGeom prst="rect">
            <a:avLst/>
          </a:prstGeom>
          <a:noFill/>
          <a:ln/>
        </p:spPr>
        <p:txBody>
          <a:bodyPr wrap="square" lIns="0" tIns="0" rIns="0" bIns="0" rtlCol="0" anchor="ctr"/>
          <a:lstStyle/>
          <a:p>
            <a:pPr indent="0" marL="0">
              <a:buNone/>
            </a:pPr>
            <a:r>
              <a:rPr lang="en-US" sz="1400" dirty="0">
                <a:solidFill>
                  <a:schemeClr val="bg2"/>
                </a:solidFill>
              </a:rPr>
              <a:t>Firebase or MongoDB so accounts work on any device</a:t>
            </a:r>
            <a:endParaRPr lang="en-US" sz="1400" dirty="0"/>
          </a:p>
        </p:txBody>
      </p:sp>
      <p:sp>
        <p:nvSpPr>
          <p:cNvPr id="8" name="Future row 2"/>
          <p:cNvSpPr/>
          <p:nvPr/>
        </p:nvSpPr>
        <p:spPr>
          <a:xfrm>
            <a:off x="548640" y="2103120"/>
            <a:ext cx="8046720" cy="713232"/>
          </a:xfrm>
          <a:prstGeom prst="roundRect">
            <a:avLst>
              <a:gd name="adj" fmla="val 15385"/>
            </a:avLst>
          </a:prstGeom>
          <a:solidFill>
            <a:schemeClr val="tx2"/>
          </a:solidFill>
          <a:ln/>
          <a:effectLst>
            <a:outerShdw sx="100000" sy="100000" kx="0" ky="0" algn="bl" rotWithShape="0" blurRad="76200" dist="25400" dir="5400000">
              <a:srgbClr val="000000">
                <a:alpha val="35000"/>
              </a:srgbClr>
            </a:outerShdw>
          </a:effectLst>
        </p:spPr>
      </p:sp>
      <p:sp>
        <p:nvSpPr>
          <p:cNvPr id="9" name="Comments and follows circle"/>
          <p:cNvSpPr/>
          <p:nvPr/>
        </p:nvSpPr>
        <p:spPr>
          <a:xfrm>
            <a:off x="731520" y="2212848"/>
            <a:ext cx="493776" cy="493776"/>
          </a:xfrm>
          <a:prstGeom prst="ellipse">
            <a:avLst/>
          </a:prstGeom>
          <a:solidFill>
            <a:schemeClr val="accent1"/>
          </a:solidFill>
          <a:ln/>
        </p:spPr>
      </p:sp>
      <p:pic>
        <p:nvPicPr>
          <p:cNvPr id="10" name="Comments and follows icon" descr="Comments and follows">    </p:cNvPr>
          <p:cNvPicPr>
            <a:picLocks noChangeAspect="1"/>
          </p:cNvPicPr>
          <p:nvPr/>
        </p:nvPicPr>
        <p:blipFill>
          <a:blip r:embed="rId2"/>
          <a:stretch>
            <a:fillRect/>
          </a:stretch>
        </p:blipFill>
        <p:spPr>
          <a:xfrm>
            <a:off x="854964" y="2336292"/>
            <a:ext cx="246888" cy="246888"/>
          </a:xfrm>
          <a:prstGeom prst="rect">
            <a:avLst/>
          </a:prstGeom>
        </p:spPr>
      </p:pic>
      <p:sp>
        <p:nvSpPr>
          <p:cNvPr id="11" name="Future title 2"/>
          <p:cNvSpPr txBox="1"/>
          <p:nvPr/>
        </p:nvSpPr>
        <p:spPr>
          <a:xfrm>
            <a:off x="1463040" y="2103120"/>
            <a:ext cx="2377440" cy="713232"/>
          </a:xfrm>
          <a:prstGeom prst="rect">
            <a:avLst/>
          </a:prstGeom>
          <a:noFill/>
          <a:ln/>
        </p:spPr>
        <p:txBody>
          <a:bodyPr wrap="square" lIns="0" tIns="0" rIns="0" bIns="0" rtlCol="0" anchor="ctr"/>
          <a:lstStyle/>
          <a:p>
            <a:pPr indent="0" marL="0">
              <a:buNone/>
            </a:pPr>
            <a:r>
              <a:rPr lang="en-US" sz="1800" b="1" dirty="0">
                <a:solidFill>
                  <a:schemeClr val="bg1"/>
                </a:solidFill>
              </a:rPr>
              <a:t>Comments and follows</a:t>
            </a:r>
            <a:endParaRPr lang="en-US" sz="1800" dirty="0"/>
          </a:p>
        </p:txBody>
      </p:sp>
      <p:sp>
        <p:nvSpPr>
          <p:cNvPr id="12" name="Future text 2"/>
          <p:cNvSpPr txBox="1"/>
          <p:nvPr/>
        </p:nvSpPr>
        <p:spPr>
          <a:xfrm>
            <a:off x="3931920" y="2103120"/>
            <a:ext cx="4480560" cy="713232"/>
          </a:xfrm>
          <a:prstGeom prst="rect">
            <a:avLst/>
          </a:prstGeom>
          <a:noFill/>
          <a:ln/>
        </p:spPr>
        <p:txBody>
          <a:bodyPr wrap="square" lIns="0" tIns="0" rIns="0" bIns="0" rtlCol="0" anchor="ctr"/>
          <a:lstStyle/>
          <a:p>
            <a:pPr indent="0" marL="0">
              <a:buNone/>
            </a:pPr>
            <a:r>
              <a:rPr lang="en-US" sz="1400" dirty="0">
                <a:solidFill>
                  <a:schemeClr val="bg2"/>
                </a:solidFill>
              </a:rPr>
              <a:t>Let users talk to talents and follow them</a:t>
            </a:r>
            <a:endParaRPr lang="en-US" sz="1400" dirty="0"/>
          </a:p>
        </p:txBody>
      </p:sp>
      <p:sp>
        <p:nvSpPr>
          <p:cNvPr id="13" name="Future row 3"/>
          <p:cNvSpPr/>
          <p:nvPr/>
        </p:nvSpPr>
        <p:spPr>
          <a:xfrm>
            <a:off x="548640" y="2926080"/>
            <a:ext cx="8046720" cy="713232"/>
          </a:xfrm>
          <a:prstGeom prst="roundRect">
            <a:avLst>
              <a:gd name="adj" fmla="val 15385"/>
            </a:avLst>
          </a:prstGeom>
          <a:solidFill>
            <a:schemeClr val="tx2"/>
          </a:solidFill>
          <a:ln/>
          <a:effectLst>
            <a:outerShdw sx="100000" sy="100000" kx="0" ky="0" algn="bl" rotWithShape="0" blurRad="76200" dist="25400" dir="5400000">
              <a:srgbClr val="000000">
                <a:alpha val="35000"/>
              </a:srgbClr>
            </a:outerShdw>
          </a:effectLst>
        </p:spPr>
      </p:sp>
      <p:sp>
        <p:nvSpPr>
          <p:cNvPr id="14" name="Notifications circle"/>
          <p:cNvSpPr/>
          <p:nvPr/>
        </p:nvSpPr>
        <p:spPr>
          <a:xfrm>
            <a:off x="731520" y="3035808"/>
            <a:ext cx="493776" cy="493776"/>
          </a:xfrm>
          <a:prstGeom prst="ellipse">
            <a:avLst/>
          </a:prstGeom>
          <a:solidFill>
            <a:schemeClr val="accent1"/>
          </a:solidFill>
          <a:ln/>
        </p:spPr>
      </p:sp>
      <p:pic>
        <p:nvPicPr>
          <p:cNvPr id="15" name="Notifications icon" descr="Notifications">    </p:cNvPr>
          <p:cNvPicPr>
            <a:picLocks noChangeAspect="1"/>
          </p:cNvPicPr>
          <p:nvPr/>
        </p:nvPicPr>
        <p:blipFill>
          <a:blip r:embed="rId3"/>
          <a:stretch>
            <a:fillRect/>
          </a:stretch>
        </p:blipFill>
        <p:spPr>
          <a:xfrm>
            <a:off x="854964" y="3159252"/>
            <a:ext cx="246888" cy="246888"/>
          </a:xfrm>
          <a:prstGeom prst="rect">
            <a:avLst/>
          </a:prstGeom>
        </p:spPr>
      </p:pic>
      <p:sp>
        <p:nvSpPr>
          <p:cNvPr id="16" name="Future title 3"/>
          <p:cNvSpPr txBox="1"/>
          <p:nvPr/>
        </p:nvSpPr>
        <p:spPr>
          <a:xfrm>
            <a:off x="1463040" y="2926080"/>
            <a:ext cx="2377440" cy="713232"/>
          </a:xfrm>
          <a:prstGeom prst="rect">
            <a:avLst/>
          </a:prstGeom>
          <a:noFill/>
          <a:ln/>
        </p:spPr>
        <p:txBody>
          <a:bodyPr wrap="square" lIns="0" tIns="0" rIns="0" bIns="0" rtlCol="0" anchor="ctr"/>
          <a:lstStyle/>
          <a:p>
            <a:pPr indent="0" marL="0">
              <a:buNone/>
            </a:pPr>
            <a:r>
              <a:rPr lang="en-US" sz="1800" b="1" dirty="0">
                <a:solidFill>
                  <a:schemeClr val="bg1"/>
                </a:solidFill>
              </a:rPr>
              <a:t>Notifications</a:t>
            </a:r>
            <a:endParaRPr lang="en-US" sz="1800" dirty="0"/>
          </a:p>
        </p:txBody>
      </p:sp>
      <p:sp>
        <p:nvSpPr>
          <p:cNvPr id="17" name="Future text 3"/>
          <p:cNvSpPr txBox="1"/>
          <p:nvPr/>
        </p:nvSpPr>
        <p:spPr>
          <a:xfrm>
            <a:off x="3931920" y="2926080"/>
            <a:ext cx="4480560" cy="713232"/>
          </a:xfrm>
          <a:prstGeom prst="rect">
            <a:avLst/>
          </a:prstGeom>
          <a:noFill/>
          <a:ln/>
        </p:spPr>
        <p:txBody>
          <a:bodyPr wrap="square" lIns="0" tIns="0" rIns="0" bIns="0" rtlCol="0" anchor="ctr"/>
          <a:lstStyle/>
          <a:p>
            <a:pPr indent="0" marL="0">
              <a:buNone/>
            </a:pPr>
            <a:r>
              <a:rPr lang="en-US" sz="1400" dirty="0">
                <a:solidFill>
                  <a:schemeClr val="bg2"/>
                </a:solidFill>
              </a:rPr>
              <a:t>Alerts for endorsements and tier upgrades</a:t>
            </a:r>
            <a:endParaRPr lang="en-US" sz="1400" dirty="0"/>
          </a:p>
        </p:txBody>
      </p:sp>
      <p:sp>
        <p:nvSpPr>
          <p:cNvPr id="18" name="Future row 4"/>
          <p:cNvSpPr/>
          <p:nvPr/>
        </p:nvSpPr>
        <p:spPr>
          <a:xfrm>
            <a:off x="548640" y="3749040"/>
            <a:ext cx="8046720" cy="713232"/>
          </a:xfrm>
          <a:prstGeom prst="roundRect">
            <a:avLst>
              <a:gd name="adj" fmla="val 15385"/>
            </a:avLst>
          </a:prstGeom>
          <a:solidFill>
            <a:schemeClr val="tx2"/>
          </a:solidFill>
          <a:ln/>
          <a:effectLst>
            <a:outerShdw sx="100000" sy="100000" kx="0" ky="0" algn="bl" rotWithShape="0" blurRad="76200" dist="25400" dir="5400000">
              <a:srgbClr val="000000">
                <a:alpha val="35000"/>
              </a:srgbClr>
            </a:outerShdw>
          </a:effectLst>
        </p:spPr>
      </p:sp>
      <p:sp>
        <p:nvSpPr>
          <p:cNvPr id="19" name="Mobile app circle"/>
          <p:cNvSpPr/>
          <p:nvPr/>
        </p:nvSpPr>
        <p:spPr>
          <a:xfrm>
            <a:off x="731520" y="3858768"/>
            <a:ext cx="493776" cy="493776"/>
          </a:xfrm>
          <a:prstGeom prst="ellipse">
            <a:avLst/>
          </a:prstGeom>
          <a:solidFill>
            <a:schemeClr val="accent1"/>
          </a:solidFill>
          <a:ln/>
        </p:spPr>
      </p:sp>
      <p:pic>
        <p:nvPicPr>
          <p:cNvPr id="20" name="Mobile app icon" descr="Mobile app">    </p:cNvPr>
          <p:cNvPicPr>
            <a:picLocks noChangeAspect="1"/>
          </p:cNvPicPr>
          <p:nvPr/>
        </p:nvPicPr>
        <p:blipFill>
          <a:blip r:embed="rId4"/>
          <a:stretch>
            <a:fillRect/>
          </a:stretch>
        </p:blipFill>
        <p:spPr>
          <a:xfrm>
            <a:off x="854964" y="3982212"/>
            <a:ext cx="246888" cy="246888"/>
          </a:xfrm>
          <a:prstGeom prst="rect">
            <a:avLst/>
          </a:prstGeom>
        </p:spPr>
      </p:pic>
      <p:sp>
        <p:nvSpPr>
          <p:cNvPr id="21" name="Future title 4"/>
          <p:cNvSpPr txBox="1"/>
          <p:nvPr/>
        </p:nvSpPr>
        <p:spPr>
          <a:xfrm>
            <a:off x="1463040" y="3749040"/>
            <a:ext cx="2377440" cy="713232"/>
          </a:xfrm>
          <a:prstGeom prst="rect">
            <a:avLst/>
          </a:prstGeom>
          <a:noFill/>
          <a:ln/>
        </p:spPr>
        <p:txBody>
          <a:bodyPr wrap="square" lIns="0" tIns="0" rIns="0" bIns="0" rtlCol="0" anchor="ctr"/>
          <a:lstStyle/>
          <a:p>
            <a:pPr indent="0" marL="0">
              <a:buNone/>
            </a:pPr>
            <a:r>
              <a:rPr lang="en-US" sz="1800" b="1" dirty="0">
                <a:solidFill>
                  <a:schemeClr val="bg1"/>
                </a:solidFill>
              </a:rPr>
              <a:t>Mobile app</a:t>
            </a:r>
            <a:endParaRPr lang="en-US" sz="1800" dirty="0"/>
          </a:p>
        </p:txBody>
      </p:sp>
      <p:sp>
        <p:nvSpPr>
          <p:cNvPr id="22" name="Future text 4"/>
          <p:cNvSpPr txBox="1"/>
          <p:nvPr/>
        </p:nvSpPr>
        <p:spPr>
          <a:xfrm>
            <a:off x="3931920" y="3749040"/>
            <a:ext cx="4480560" cy="713232"/>
          </a:xfrm>
          <a:prstGeom prst="rect">
            <a:avLst/>
          </a:prstGeom>
          <a:noFill/>
          <a:ln/>
        </p:spPr>
        <p:txBody>
          <a:bodyPr wrap="square" lIns="0" tIns="0" rIns="0" bIns="0" rtlCol="0" anchor="ctr"/>
          <a:lstStyle/>
          <a:p>
            <a:pPr indent="0" marL="0">
              <a:buNone/>
            </a:pPr>
            <a:r>
              <a:rPr lang="en-US" sz="1400" dirty="0">
                <a:solidFill>
                  <a:schemeClr val="bg2"/>
                </a:solidFill>
              </a:rPr>
              <a:t>Bring the Reels-style feed to phones</a:t>
            </a:r>
            <a:endParaRPr lang="en-US" sz="14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1097280"/>
            <a:ext cx="3291840" cy="1188720"/>
          </a:xfrm>
          <a:prstGeom prst="rect">
            <a:avLst/>
          </a:prstGeom>
          <a:noFill/>
          <a:ln/>
        </p:spPr>
        <p:txBody>
          <a:bodyPr wrap="square" lIns="0" tIns="0" rIns="0" bIns="0" rtlCol="0" anchor="b"/>
          <a:lstStyle/>
          <a:p>
            <a:pPr algn="l" indent="0" marL="0">
              <a:buNone/>
            </a:pPr>
            <a:r>
              <a:rPr lang="en-US" sz="5400" b="1" dirty="0">
                <a:solidFill>
                  <a:schemeClr val="accent1"/>
                </a:solidFill>
              </a:rPr>
              <a:t>Thank you</a:t>
            </a:r>
            <a:endParaRPr lang="en-US" sz="5400" dirty="0"/>
          </a:p>
        </p:txBody>
      </p:sp>
      <p:sp>
        <p:nvSpPr>
          <p:cNvPr id="3" name="Text 0"/>
          <p:cNvSpPr/>
          <p:nvPr>
            <p:ph idx="102" type="body" hasCustomPrompt="1"/>
          </p:nvPr>
        </p:nvSpPr>
        <p:spPr>
          <a:xfrm>
            <a:off x="548640" y="2377440"/>
            <a:ext cx="3291840" cy="457200"/>
          </a:xfrm>
          <a:prstGeom prst="rect">
            <a:avLst/>
          </a:prstGeom>
          <a:noFill/>
          <a:ln/>
        </p:spPr>
        <p:txBody>
          <a:bodyPr wrap="square" lIns="0" tIns="0" rIns="0" bIns="0" rtlCol="0" anchor="t"/>
          <a:lstStyle/>
          <a:p>
            <a:pPr indent="0" marL="0">
              <a:buNone/>
            </a:pPr>
            <a:r>
              <a:rPr lang="en-US" sz="2200" dirty="0">
                <a:solidFill>
                  <a:schemeClr val="bg1"/>
                </a:solidFill>
              </a:rPr>
              <a:t>Live demo next</a:t>
            </a:r>
            <a:endParaRPr lang="en-US" sz="2200" dirty="0"/>
          </a:p>
        </p:txBody>
      </p:sp>
      <p:sp>
        <p:nvSpPr>
          <p:cNvPr id="4" name="Text 0"/>
          <p:cNvSpPr/>
          <p:nvPr>
            <p:ph idx="103" type="body" hasCustomPrompt="1"/>
          </p:nvPr>
        </p:nvSpPr>
        <p:spPr>
          <a:xfrm>
            <a:off x="548640" y="3017520"/>
            <a:ext cx="3200400" cy="1371600"/>
          </a:xfrm>
          <a:prstGeom prst="rect">
            <a:avLst/>
          </a:prstGeom>
          <a:noFill/>
          <a:ln/>
        </p:spPr>
        <p:txBody>
          <a:bodyPr wrap="square" lIns="0" tIns="0" rIns="0" bIns="0" rtlCol="0" anchor="t"/>
          <a:lstStyle/>
          <a:p>
            <a:pPr indent="0" marL="0">
              <a:spcAft>
                <a:spcPts val="600"/>
              </a:spcAft>
              <a:buNone/>
            </a:pPr>
            <a:r>
              <a:rPr lang="en-US" sz="1400" dirty="0">
                <a:solidFill>
                  <a:schemeClr val="bg2"/>
                </a:solidFill>
              </a:rPr>
              <a:t>Source code and live site are on GitHub</a:t>
            </a:r>
            <a:endParaRPr lang="en-US" sz="1400" dirty="0"/>
          </a:p>
          <a:p>
            <a:pPr indent="0" marL="0">
              <a:spcAft>
                <a:spcPts val="600"/>
              </a:spcAft>
              <a:buNone/>
            </a:pPr>
            <a:r>
              <a:rPr lang="en-US" sz="1400" dirty="0">
                <a:solidFill>
                  <a:schemeClr val="bg2"/>
                </a:solidFill>
              </a:rPr>
              <a:t>Questions are welcome</a:t>
            </a:r>
            <a:endParaRPr lang="en-US" sz="1400" dirty="0"/>
          </a:p>
        </p:txBody>
      </p:sp>
    </p:spTree>
  </p:cSld>
  <p:clrMapOvr>
    <a:masterClrMapping/>
  </p:clrMapOvr>
</p:sld>
</file>

<file path=ppt/theme/theme1.xml><?xml version="1.0" encoding="utf-8"?>
<a:theme xmlns:a="http://schemas.openxmlformats.org/drawingml/2006/main" name="Ascend Ink and Lime">
  <a:themeElements>
    <a:clrScheme name="Ascend Ink and Lime">
      <a:dk1>
        <a:srgbClr val="111318"/>
      </a:dk1>
      <a:lt1>
        <a:srgbClr val="F2F2ED"/>
      </a:lt1>
      <a:dk2>
        <a:srgbClr val="1C1F27"/>
      </a:dk2>
      <a:lt2>
        <a:srgbClr val="9498A3"/>
      </a:lt2>
      <a:accent1>
        <a:srgbClr val="D4F547"/>
      </a:accent1>
      <a:accent2>
        <a:srgbClr val="5B7FFF"/>
      </a:accent2>
      <a:accent3>
        <a:srgbClr val="A88CFF"/>
      </a:accent3>
      <a:accent4>
        <a:srgbClr val="8C6239"/>
      </a:accent4>
      <a:accent5>
        <a:srgbClr val="7C818C"/>
      </a:accent5>
      <a:accent6>
        <a:srgbClr val="E8C170"/>
      </a:accent6>
      <a:hlink>
        <a:srgbClr val="5B7FFF"/>
      </a:hlink>
      <a:folHlink>
        <a:srgbClr val="A88CFF"/>
      </a:folHlink>
    </a:clrScheme>
    <a:fontScheme name="Ascend Ink and Lim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Ascend - Project Presentation</dc:title>
  <dc:subject>PptxGenJS Presentation</dc:subject>
  <dc:creator>PptxGenJS</dc:creator>
  <cp:lastModifiedBy>PptxGenJS</cp:lastModifiedBy>
  <cp:revision>1</cp:revision>
  <dcterms:created xsi:type="dcterms:W3CDTF">2026-10-09T04:28:30Z</dcterms:created>
  <dcterms:modified xsi:type="dcterms:W3CDTF">2026-10-09T04:28:30Z</dcterms:modified>
</cp:coreProperties>
</file>